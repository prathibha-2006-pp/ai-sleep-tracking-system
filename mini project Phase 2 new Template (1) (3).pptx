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5"/>
  </p:notesMasterIdLst>
  <p:sldIdLst>
    <p:sldId id="475" r:id="rId2"/>
    <p:sldId id="470" r:id="rId3"/>
    <p:sldId id="485" r:id="rId4"/>
    <p:sldId id="484" r:id="rId5"/>
    <p:sldId id="483" r:id="rId6"/>
    <p:sldId id="462" r:id="rId7"/>
    <p:sldId id="486" r:id="rId8"/>
    <p:sldId id="478" r:id="rId9"/>
    <p:sldId id="487" r:id="rId10"/>
    <p:sldId id="481" r:id="rId11"/>
    <p:sldId id="488" r:id="rId12"/>
    <p:sldId id="468" r:id="rId13"/>
    <p:sldId id="473" r:id="rId14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799F"/>
    <a:srgbClr val="5B9BD5"/>
    <a:srgbClr val="0A406D"/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61" d="100"/>
          <a:sy n="61" d="100"/>
        </p:scale>
        <p:origin x="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esidencyuniversityin-my.sharepoint.com/personal/prathibha_20241cse0026_presidencyuniversity_in/Documents/mini%20project%20Phase%202%20new%20Template%20(2)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REASONS </c:v>
                </c:pt>
              </c:strCache>
            </c:strRef>
          </c:tx>
          <c:spPr>
            <a:solidFill>
              <a:srgbClr val="747474"/>
            </a:solidFill>
          </c:spPr>
          <c:dPt>
            <c:idx val="0"/>
            <c:bubble3D val="0"/>
            <c:spPr>
              <a:solidFill>
                <a:srgbClr val="C0E4F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3B-4A0A-BCD7-6CDDC0393AA6}"/>
              </c:ext>
            </c:extLst>
          </c:dPt>
          <c:dPt>
            <c:idx val="1"/>
            <c:bubble3D val="0"/>
            <c:spPr>
              <a:solidFill>
                <a:srgbClr val="215C9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33B-4A0A-BCD7-6CDDC0393AA6}"/>
              </c:ext>
            </c:extLst>
          </c:dPt>
          <c:dPt>
            <c:idx val="2"/>
            <c:bubble3D val="0"/>
            <c:spPr>
              <a:solidFill>
                <a:srgbClr val="A6C9E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33B-4A0A-BCD7-6CDDC0393AA6}"/>
              </c:ext>
            </c:extLst>
          </c:dPt>
          <c:dPt>
            <c:idx val="3"/>
            <c:bubble3D val="0"/>
            <c:spPr>
              <a:solidFill>
                <a:srgbClr val="DAE9F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33B-4A0A-BCD7-6CDDC0393AA6}"/>
              </c:ext>
            </c:extLst>
          </c:dPt>
          <c:cat>
            <c:strRef>
              <c:f>Sheet1!$A$2:$A$5</c:f>
              <c:strCache>
                <c:ptCount val="4"/>
                <c:pt idx="0">
                  <c:v>Academic stress</c:v>
                </c:pt>
                <c:pt idx="1">
                  <c:v>Late Night Phone Use</c:v>
                </c:pt>
                <c:pt idx="2">
                  <c:v>Irregular Sleep Schedule</c:v>
                </c:pt>
                <c:pt idx="3">
                  <c:v>Mental Health Issues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</c:v>
                </c:pt>
                <c:pt idx="1">
                  <c:v>4.3</c:v>
                </c:pt>
                <c:pt idx="2">
                  <c:v>2.4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C7E-8525-F03D85E0E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689634135388952"/>
          <c:y val="0.91894683532092947"/>
          <c:w val="0.46829051837270341"/>
          <c:h val="6.26764418613063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C1B165-ADA3-40F5-B49A-3FEEF238BA57}" type="doc">
      <dgm:prSet loTypeId="urn:microsoft.com/office/officeart/2005/8/layout/cycle2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1351C9FE-6D07-4A8F-BF2F-AF016AE6A4E0}">
      <dgm:prSet phldrT="[Text]" phldr="0"/>
      <dgm:spPr/>
      <dgm:t>
        <a:bodyPr/>
        <a:lstStyle/>
        <a:p>
          <a:pPr rtl="0"/>
          <a:r>
            <a:rPr lang="en-US" sz="2000" dirty="0">
              <a:latin typeface="Calibri"/>
              <a:ea typeface="Calibri"/>
              <a:cs typeface="Calibri"/>
            </a:rPr>
            <a:t>Heart-Rate Monitoring (MAX30102)</a:t>
          </a:r>
          <a:endParaRPr lang="en-GB" dirty="0"/>
        </a:p>
      </dgm:t>
    </dgm:pt>
    <dgm:pt modelId="{E740E61B-7773-4F50-854F-CE3FC8F8DCA9}" type="parTrans" cxnId="{AAC7C28A-46DD-4590-BA00-EB5B3808B34E}">
      <dgm:prSet/>
      <dgm:spPr/>
      <dgm:t>
        <a:bodyPr/>
        <a:lstStyle/>
        <a:p>
          <a:endParaRPr lang="en-GB"/>
        </a:p>
      </dgm:t>
    </dgm:pt>
    <dgm:pt modelId="{2EFD1EDB-9368-4DA1-A416-6922E31B454A}" type="sibTrans" cxnId="{AAC7C28A-46DD-4590-BA00-EB5B3808B34E}">
      <dgm:prSet/>
      <dgm:spPr/>
      <dgm:t>
        <a:bodyPr/>
        <a:lstStyle/>
        <a:p>
          <a:endParaRPr lang="en-GB"/>
        </a:p>
      </dgm:t>
    </dgm:pt>
    <dgm:pt modelId="{E14F14EB-91B9-4188-B027-278377A56399}">
      <dgm:prSet phldrT="[Text]" phldr="0"/>
      <dgm:spPr/>
      <dgm:t>
        <a:bodyPr/>
        <a:lstStyle/>
        <a:p>
          <a:pPr rtl="0"/>
          <a:r>
            <a:rPr lang="en-US" sz="2000" dirty="0">
              <a:latin typeface="Calibri"/>
              <a:ea typeface="Calibri"/>
              <a:cs typeface="Calibri"/>
            </a:rPr>
            <a:t>Detects breathing patterns</a:t>
          </a:r>
          <a:endParaRPr lang="en-GB" dirty="0"/>
        </a:p>
      </dgm:t>
    </dgm:pt>
    <dgm:pt modelId="{B1FEB18C-15BD-4A13-A3C7-4818D74168B2}" type="parTrans" cxnId="{66494AA7-6C2A-4092-94E6-D958497F200D}">
      <dgm:prSet/>
      <dgm:spPr/>
      <dgm:t>
        <a:bodyPr/>
        <a:lstStyle/>
        <a:p>
          <a:endParaRPr lang="en-GB"/>
        </a:p>
      </dgm:t>
    </dgm:pt>
    <dgm:pt modelId="{23597D7A-F038-4F03-9907-77075C44DC22}" type="sibTrans" cxnId="{66494AA7-6C2A-4092-94E6-D958497F200D}">
      <dgm:prSet/>
      <dgm:spPr/>
      <dgm:t>
        <a:bodyPr/>
        <a:lstStyle/>
        <a:p>
          <a:endParaRPr lang="en-GB"/>
        </a:p>
      </dgm:t>
    </dgm:pt>
    <dgm:pt modelId="{03DE38A1-79CA-47E5-8527-848F2887B5A3}">
      <dgm:prSet phldrT="[Text]" phldr="0"/>
      <dgm:spPr/>
      <dgm:t>
        <a:bodyPr/>
        <a:lstStyle/>
        <a:p>
          <a:pPr algn="l" rtl="0"/>
          <a:r>
            <a:rPr lang="en-US" sz="2000" dirty="0">
              <a:latin typeface="Calibri"/>
              <a:ea typeface="Calibri"/>
              <a:cs typeface="Calibri"/>
            </a:rPr>
            <a:t>Identifies light sleep, deep sleep, or wake events</a:t>
          </a:r>
          <a:endParaRPr lang="en-GB" dirty="0"/>
        </a:p>
      </dgm:t>
    </dgm:pt>
    <dgm:pt modelId="{C2FB48BB-94EB-479F-BDD8-A95F6672B441}" type="parTrans" cxnId="{F759DFA4-A73F-49D7-B71D-5DA8695CDB67}">
      <dgm:prSet/>
      <dgm:spPr/>
      <dgm:t>
        <a:bodyPr/>
        <a:lstStyle/>
        <a:p>
          <a:endParaRPr lang="en-GB"/>
        </a:p>
      </dgm:t>
    </dgm:pt>
    <dgm:pt modelId="{25E13DBA-3970-48F3-986B-B1EEA8C242CA}" type="sibTrans" cxnId="{F759DFA4-A73F-49D7-B71D-5DA8695CDB67}">
      <dgm:prSet/>
      <dgm:spPr/>
      <dgm:t>
        <a:bodyPr/>
        <a:lstStyle/>
        <a:p>
          <a:endParaRPr lang="en-GB"/>
        </a:p>
      </dgm:t>
    </dgm:pt>
    <dgm:pt modelId="{673A4EED-A7C3-442A-BB74-2C2F54F924B7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Detects heart-rate variability (HRV)</a:t>
          </a:r>
          <a:endParaRPr lang="en-GB" dirty="0"/>
        </a:p>
      </dgm:t>
    </dgm:pt>
    <dgm:pt modelId="{7C1B2EFA-CAEA-4FBC-91D2-BD18A1FDA9C7}" type="parTrans" cxnId="{16149E57-B048-43E2-B822-C52A06B8EB32}">
      <dgm:prSet/>
      <dgm:spPr/>
      <dgm:t>
        <a:bodyPr/>
        <a:lstStyle/>
        <a:p>
          <a:endParaRPr lang="en-GB"/>
        </a:p>
      </dgm:t>
    </dgm:pt>
    <dgm:pt modelId="{083B29A9-8AB1-4C43-9B97-4CDCD2561528}" type="sibTrans" cxnId="{16149E57-B048-43E2-B822-C52A06B8EB32}">
      <dgm:prSet/>
      <dgm:spPr/>
      <dgm:t>
        <a:bodyPr/>
        <a:lstStyle/>
        <a:p>
          <a:endParaRPr lang="en-GB"/>
        </a:p>
      </dgm:t>
    </dgm:pt>
    <dgm:pt modelId="{629A3AE0-E91C-4225-8E94-A08D61F2A789}">
      <dgm:prSet phldrT="[Text]" phldr="0"/>
      <dgm:spPr/>
      <dgm:t>
        <a:bodyPr/>
        <a:lstStyle/>
        <a:p>
          <a:pPr rtl="0"/>
          <a:r>
            <a:rPr lang="en-US" sz="2000" dirty="0">
              <a:latin typeface="Calibri"/>
              <a:ea typeface="Calibri"/>
              <a:cs typeface="Calibri"/>
            </a:rPr>
            <a:t>Measures snoring intensity</a:t>
          </a:r>
          <a:endParaRPr lang="en-GB" dirty="0"/>
        </a:p>
      </dgm:t>
    </dgm:pt>
    <dgm:pt modelId="{8F3EC129-B837-4E90-85E1-D0003581C790}" type="parTrans" cxnId="{02B30DEF-1DBF-4362-B627-8293D27A9DA8}">
      <dgm:prSet/>
      <dgm:spPr/>
      <dgm:t>
        <a:bodyPr/>
        <a:lstStyle/>
        <a:p>
          <a:endParaRPr lang="en-GB"/>
        </a:p>
      </dgm:t>
    </dgm:pt>
    <dgm:pt modelId="{4CDA6595-A009-4BFC-B1C0-C8DA4E97E1E0}" type="sibTrans" cxnId="{02B30DEF-1DBF-4362-B627-8293D27A9DA8}">
      <dgm:prSet/>
      <dgm:spPr/>
      <dgm:t>
        <a:bodyPr/>
        <a:lstStyle/>
        <a:p>
          <a:endParaRPr lang="en-GB"/>
        </a:p>
      </dgm:t>
    </dgm:pt>
    <dgm:pt modelId="{BE570950-6B04-4303-B236-6EE2BA580BEE}">
      <dgm:prSet phldr="0"/>
      <dgm:spPr/>
      <dgm:t>
        <a:bodyPr/>
        <a:lstStyle/>
        <a:p>
          <a:pPr algn="l"/>
          <a:r>
            <a:rPr lang="en-US" sz="2000" dirty="0">
              <a:latin typeface="Calibri"/>
              <a:ea typeface="Calibri"/>
              <a:cs typeface="Calibri"/>
            </a:rPr>
            <a:t>Captures sudden disturbances (cough, noise)</a:t>
          </a:r>
          <a:endParaRPr lang="en-GB" dirty="0"/>
        </a:p>
      </dgm:t>
    </dgm:pt>
    <dgm:pt modelId="{68C842C6-4A59-480E-81CE-0149172C3106}" type="parTrans" cxnId="{18827309-0D74-4C36-B60F-7486693B6768}">
      <dgm:prSet/>
      <dgm:spPr/>
      <dgm:t>
        <a:bodyPr/>
        <a:lstStyle/>
        <a:p>
          <a:endParaRPr lang="en-US"/>
        </a:p>
      </dgm:t>
    </dgm:pt>
    <dgm:pt modelId="{5B6344FA-2837-400E-8E5D-783DBCCA055D}" type="sibTrans" cxnId="{18827309-0D74-4C36-B60F-7486693B6768}">
      <dgm:prSet/>
      <dgm:spPr/>
      <dgm:t>
        <a:bodyPr/>
        <a:lstStyle/>
        <a:p>
          <a:endParaRPr lang="en-GB"/>
        </a:p>
      </dgm:t>
    </dgm:pt>
    <dgm:pt modelId="{38024A21-7E28-42C7-B06A-6064E25C031C}" type="pres">
      <dgm:prSet presAssocID="{31C1B165-ADA3-40F5-B49A-3FEEF238BA57}" presName="cycle" presStyleCnt="0">
        <dgm:presLayoutVars>
          <dgm:dir/>
          <dgm:resizeHandles val="exact"/>
        </dgm:presLayoutVars>
      </dgm:prSet>
      <dgm:spPr/>
    </dgm:pt>
    <dgm:pt modelId="{5C1C8E9B-C22B-4ABF-A66D-9F9E5E77087D}" type="pres">
      <dgm:prSet presAssocID="{1351C9FE-6D07-4A8F-BF2F-AF016AE6A4E0}" presName="node" presStyleLbl="node1" presStyleIdx="0" presStyleCnt="6">
        <dgm:presLayoutVars>
          <dgm:bulletEnabled val="1"/>
        </dgm:presLayoutVars>
      </dgm:prSet>
      <dgm:spPr/>
    </dgm:pt>
    <dgm:pt modelId="{E62B02E4-2665-4117-A36D-3DE4A53209D0}" type="pres">
      <dgm:prSet presAssocID="{2EFD1EDB-9368-4DA1-A416-6922E31B454A}" presName="sibTrans" presStyleLbl="sibTrans2D1" presStyleIdx="0" presStyleCnt="6"/>
      <dgm:spPr/>
    </dgm:pt>
    <dgm:pt modelId="{8EC5EE5B-6BB0-461D-A0AF-2CD1B6CD7178}" type="pres">
      <dgm:prSet presAssocID="{2EFD1EDB-9368-4DA1-A416-6922E31B454A}" presName="connectorText" presStyleLbl="sibTrans2D1" presStyleIdx="0" presStyleCnt="6"/>
      <dgm:spPr/>
    </dgm:pt>
    <dgm:pt modelId="{EB50A322-591B-4637-B375-96042BA39385}" type="pres">
      <dgm:prSet presAssocID="{E14F14EB-91B9-4188-B027-278377A56399}" presName="node" presStyleLbl="node1" presStyleIdx="1" presStyleCnt="6">
        <dgm:presLayoutVars>
          <dgm:bulletEnabled val="1"/>
        </dgm:presLayoutVars>
      </dgm:prSet>
      <dgm:spPr/>
    </dgm:pt>
    <dgm:pt modelId="{E7518E01-722E-4328-839E-3F3EA24A8283}" type="pres">
      <dgm:prSet presAssocID="{23597D7A-F038-4F03-9907-77075C44DC22}" presName="sibTrans" presStyleLbl="sibTrans2D1" presStyleIdx="1" presStyleCnt="6"/>
      <dgm:spPr/>
    </dgm:pt>
    <dgm:pt modelId="{366F1606-F52A-4BA4-8F2E-2ECE5986E739}" type="pres">
      <dgm:prSet presAssocID="{23597D7A-F038-4F03-9907-77075C44DC22}" presName="connectorText" presStyleLbl="sibTrans2D1" presStyleIdx="1" presStyleCnt="6"/>
      <dgm:spPr/>
    </dgm:pt>
    <dgm:pt modelId="{B0FEAB9B-BDE9-4BAA-A59D-A0A2A2B1208D}" type="pres">
      <dgm:prSet presAssocID="{03DE38A1-79CA-47E5-8527-848F2887B5A3}" presName="node" presStyleLbl="node1" presStyleIdx="2" presStyleCnt="6">
        <dgm:presLayoutVars>
          <dgm:bulletEnabled val="1"/>
        </dgm:presLayoutVars>
      </dgm:prSet>
      <dgm:spPr/>
    </dgm:pt>
    <dgm:pt modelId="{6BB2DD3B-7F94-4A02-9F68-FDF4AD414A86}" type="pres">
      <dgm:prSet presAssocID="{25E13DBA-3970-48F3-986B-B1EEA8C242CA}" presName="sibTrans" presStyleLbl="sibTrans2D1" presStyleIdx="2" presStyleCnt="6"/>
      <dgm:spPr/>
    </dgm:pt>
    <dgm:pt modelId="{11C6B330-EB40-4E39-AFDD-C6CEC34B406A}" type="pres">
      <dgm:prSet presAssocID="{25E13DBA-3970-48F3-986B-B1EEA8C242CA}" presName="connectorText" presStyleLbl="sibTrans2D1" presStyleIdx="2" presStyleCnt="6"/>
      <dgm:spPr/>
    </dgm:pt>
    <dgm:pt modelId="{987BD6B0-D307-48A4-B104-C4E0506CBC4B}" type="pres">
      <dgm:prSet presAssocID="{BE570950-6B04-4303-B236-6EE2BA580BEE}" presName="node" presStyleLbl="node1" presStyleIdx="3" presStyleCnt="6">
        <dgm:presLayoutVars>
          <dgm:bulletEnabled val="1"/>
        </dgm:presLayoutVars>
      </dgm:prSet>
      <dgm:spPr/>
    </dgm:pt>
    <dgm:pt modelId="{466EFE7D-C389-420C-8D30-173538C89536}" type="pres">
      <dgm:prSet presAssocID="{5B6344FA-2837-400E-8E5D-783DBCCA055D}" presName="sibTrans" presStyleLbl="sibTrans2D1" presStyleIdx="3" presStyleCnt="6"/>
      <dgm:spPr/>
    </dgm:pt>
    <dgm:pt modelId="{4E570411-0B48-4005-AF36-3F4FED0FDCB7}" type="pres">
      <dgm:prSet presAssocID="{5B6344FA-2837-400E-8E5D-783DBCCA055D}" presName="connectorText" presStyleLbl="sibTrans2D1" presStyleIdx="3" presStyleCnt="6"/>
      <dgm:spPr/>
    </dgm:pt>
    <dgm:pt modelId="{61315F49-1639-41A1-9C74-2742FD6DC550}" type="pres">
      <dgm:prSet presAssocID="{673A4EED-A7C3-442A-BB74-2C2F54F924B7}" presName="node" presStyleLbl="node1" presStyleIdx="4" presStyleCnt="6">
        <dgm:presLayoutVars>
          <dgm:bulletEnabled val="1"/>
        </dgm:presLayoutVars>
      </dgm:prSet>
      <dgm:spPr/>
    </dgm:pt>
    <dgm:pt modelId="{FFCAEA36-1001-477C-B84A-D5084B92A1D5}" type="pres">
      <dgm:prSet presAssocID="{083B29A9-8AB1-4C43-9B97-4CDCD2561528}" presName="sibTrans" presStyleLbl="sibTrans2D1" presStyleIdx="4" presStyleCnt="6"/>
      <dgm:spPr/>
    </dgm:pt>
    <dgm:pt modelId="{B1CABECF-6F08-4919-834F-5BFAF3648EB3}" type="pres">
      <dgm:prSet presAssocID="{083B29A9-8AB1-4C43-9B97-4CDCD2561528}" presName="connectorText" presStyleLbl="sibTrans2D1" presStyleIdx="4" presStyleCnt="6"/>
      <dgm:spPr/>
    </dgm:pt>
    <dgm:pt modelId="{FD9BAA56-43BE-4EA6-AD01-4AC44798946D}" type="pres">
      <dgm:prSet presAssocID="{629A3AE0-E91C-4225-8E94-A08D61F2A789}" presName="node" presStyleLbl="node1" presStyleIdx="5" presStyleCnt="6">
        <dgm:presLayoutVars>
          <dgm:bulletEnabled val="1"/>
        </dgm:presLayoutVars>
      </dgm:prSet>
      <dgm:spPr/>
    </dgm:pt>
    <dgm:pt modelId="{5441495B-84BA-4C2D-9892-DAAF761932D7}" type="pres">
      <dgm:prSet presAssocID="{4CDA6595-A009-4BFC-B1C0-C8DA4E97E1E0}" presName="sibTrans" presStyleLbl="sibTrans2D1" presStyleIdx="5" presStyleCnt="6"/>
      <dgm:spPr/>
    </dgm:pt>
    <dgm:pt modelId="{EB651ADF-7959-4B14-8CF3-46AEC5027FCD}" type="pres">
      <dgm:prSet presAssocID="{4CDA6595-A009-4BFC-B1C0-C8DA4E97E1E0}" presName="connectorText" presStyleLbl="sibTrans2D1" presStyleIdx="5" presStyleCnt="6"/>
      <dgm:spPr/>
    </dgm:pt>
  </dgm:ptLst>
  <dgm:cxnLst>
    <dgm:cxn modelId="{57A97202-37F6-40CF-A753-EE48A4A44901}" type="presOf" srcId="{1351C9FE-6D07-4A8F-BF2F-AF016AE6A4E0}" destId="{5C1C8E9B-C22B-4ABF-A66D-9F9E5E77087D}" srcOrd="0" destOrd="0" presId="urn:microsoft.com/office/officeart/2005/8/layout/cycle2"/>
    <dgm:cxn modelId="{C06C2E05-5054-4D9D-BC70-D69AFC55BE93}" type="presOf" srcId="{25E13DBA-3970-48F3-986B-B1EEA8C242CA}" destId="{11C6B330-EB40-4E39-AFDD-C6CEC34B406A}" srcOrd="1" destOrd="0" presId="urn:microsoft.com/office/officeart/2005/8/layout/cycle2"/>
    <dgm:cxn modelId="{18827309-0D74-4C36-B60F-7486693B6768}" srcId="{31C1B165-ADA3-40F5-B49A-3FEEF238BA57}" destId="{BE570950-6B04-4303-B236-6EE2BA580BEE}" srcOrd="3" destOrd="0" parTransId="{68C842C6-4A59-480E-81CE-0149172C3106}" sibTransId="{5B6344FA-2837-400E-8E5D-783DBCCA055D}"/>
    <dgm:cxn modelId="{3D1B110E-0978-4813-8A62-1EC3FBC79560}" type="presOf" srcId="{E14F14EB-91B9-4188-B027-278377A56399}" destId="{EB50A322-591B-4637-B375-96042BA39385}" srcOrd="0" destOrd="0" presId="urn:microsoft.com/office/officeart/2005/8/layout/cycle2"/>
    <dgm:cxn modelId="{80E98C24-0D40-471A-9E59-F8925A5A1BBB}" type="presOf" srcId="{23597D7A-F038-4F03-9907-77075C44DC22}" destId="{E7518E01-722E-4328-839E-3F3EA24A8283}" srcOrd="0" destOrd="0" presId="urn:microsoft.com/office/officeart/2005/8/layout/cycle2"/>
    <dgm:cxn modelId="{E876F625-6A23-4713-AA0D-EE1546735F9D}" type="presOf" srcId="{083B29A9-8AB1-4C43-9B97-4CDCD2561528}" destId="{FFCAEA36-1001-477C-B84A-D5084B92A1D5}" srcOrd="0" destOrd="0" presId="urn:microsoft.com/office/officeart/2005/8/layout/cycle2"/>
    <dgm:cxn modelId="{384C1B2F-6BF8-48D3-A88B-C9E846E15E6C}" type="presOf" srcId="{4CDA6595-A009-4BFC-B1C0-C8DA4E97E1E0}" destId="{EB651ADF-7959-4B14-8CF3-46AEC5027FCD}" srcOrd="1" destOrd="0" presId="urn:microsoft.com/office/officeart/2005/8/layout/cycle2"/>
    <dgm:cxn modelId="{55493937-37F1-4F83-8084-B873BD2C331E}" type="presOf" srcId="{BE570950-6B04-4303-B236-6EE2BA580BEE}" destId="{987BD6B0-D307-48A4-B104-C4E0506CBC4B}" srcOrd="0" destOrd="0" presId="urn:microsoft.com/office/officeart/2005/8/layout/cycle2"/>
    <dgm:cxn modelId="{D9EBB93B-8815-4026-AD6D-E3FF0B30B28B}" type="presOf" srcId="{23597D7A-F038-4F03-9907-77075C44DC22}" destId="{366F1606-F52A-4BA4-8F2E-2ECE5986E739}" srcOrd="1" destOrd="0" presId="urn:microsoft.com/office/officeart/2005/8/layout/cycle2"/>
    <dgm:cxn modelId="{3ADCB042-9B35-482B-98B0-1C35F37AEA38}" type="presOf" srcId="{03DE38A1-79CA-47E5-8527-848F2887B5A3}" destId="{B0FEAB9B-BDE9-4BAA-A59D-A0A2A2B1208D}" srcOrd="0" destOrd="0" presId="urn:microsoft.com/office/officeart/2005/8/layout/cycle2"/>
    <dgm:cxn modelId="{74781E68-EF11-4D68-B56D-2C274FC561B1}" type="presOf" srcId="{083B29A9-8AB1-4C43-9B97-4CDCD2561528}" destId="{B1CABECF-6F08-4919-834F-5BFAF3648EB3}" srcOrd="1" destOrd="0" presId="urn:microsoft.com/office/officeart/2005/8/layout/cycle2"/>
    <dgm:cxn modelId="{16149E57-B048-43E2-B822-C52A06B8EB32}" srcId="{31C1B165-ADA3-40F5-B49A-3FEEF238BA57}" destId="{673A4EED-A7C3-442A-BB74-2C2F54F924B7}" srcOrd="4" destOrd="0" parTransId="{7C1B2EFA-CAEA-4FBC-91D2-BD18A1FDA9C7}" sibTransId="{083B29A9-8AB1-4C43-9B97-4CDCD2561528}"/>
    <dgm:cxn modelId="{AAC7C28A-46DD-4590-BA00-EB5B3808B34E}" srcId="{31C1B165-ADA3-40F5-B49A-3FEEF238BA57}" destId="{1351C9FE-6D07-4A8F-BF2F-AF016AE6A4E0}" srcOrd="0" destOrd="0" parTransId="{E740E61B-7773-4F50-854F-CE3FC8F8DCA9}" sibTransId="{2EFD1EDB-9368-4DA1-A416-6922E31B454A}"/>
    <dgm:cxn modelId="{5C65F68A-7615-40E9-A63C-8545C23B72EF}" type="presOf" srcId="{5B6344FA-2837-400E-8E5D-783DBCCA055D}" destId="{466EFE7D-C389-420C-8D30-173538C89536}" srcOrd="0" destOrd="0" presId="urn:microsoft.com/office/officeart/2005/8/layout/cycle2"/>
    <dgm:cxn modelId="{EE058597-4438-42B6-869F-12E04DCD93AF}" type="presOf" srcId="{31C1B165-ADA3-40F5-B49A-3FEEF238BA57}" destId="{38024A21-7E28-42C7-B06A-6064E25C031C}" srcOrd="0" destOrd="0" presId="urn:microsoft.com/office/officeart/2005/8/layout/cycle2"/>
    <dgm:cxn modelId="{BD1BA098-AF21-46AD-87D4-39C294CA78AA}" type="presOf" srcId="{2EFD1EDB-9368-4DA1-A416-6922E31B454A}" destId="{E62B02E4-2665-4117-A36D-3DE4A53209D0}" srcOrd="0" destOrd="0" presId="urn:microsoft.com/office/officeart/2005/8/layout/cycle2"/>
    <dgm:cxn modelId="{169A419F-58D0-4448-93D3-83E26DBBBBC6}" type="presOf" srcId="{25E13DBA-3970-48F3-986B-B1EEA8C242CA}" destId="{6BB2DD3B-7F94-4A02-9F68-FDF4AD414A86}" srcOrd="0" destOrd="0" presId="urn:microsoft.com/office/officeart/2005/8/layout/cycle2"/>
    <dgm:cxn modelId="{A979989F-82AF-458C-8949-73C4FE63B377}" type="presOf" srcId="{4CDA6595-A009-4BFC-B1C0-C8DA4E97E1E0}" destId="{5441495B-84BA-4C2D-9892-DAAF761932D7}" srcOrd="0" destOrd="0" presId="urn:microsoft.com/office/officeart/2005/8/layout/cycle2"/>
    <dgm:cxn modelId="{F759DFA4-A73F-49D7-B71D-5DA8695CDB67}" srcId="{31C1B165-ADA3-40F5-B49A-3FEEF238BA57}" destId="{03DE38A1-79CA-47E5-8527-848F2887B5A3}" srcOrd="2" destOrd="0" parTransId="{C2FB48BB-94EB-479F-BDD8-A95F6672B441}" sibTransId="{25E13DBA-3970-48F3-986B-B1EEA8C242CA}"/>
    <dgm:cxn modelId="{66494AA7-6C2A-4092-94E6-D958497F200D}" srcId="{31C1B165-ADA3-40F5-B49A-3FEEF238BA57}" destId="{E14F14EB-91B9-4188-B027-278377A56399}" srcOrd="1" destOrd="0" parTransId="{B1FEB18C-15BD-4A13-A3C7-4818D74168B2}" sibTransId="{23597D7A-F038-4F03-9907-77075C44DC22}"/>
    <dgm:cxn modelId="{06383FBE-DF95-48FB-B88A-F08C06AEC637}" type="presOf" srcId="{673A4EED-A7C3-442A-BB74-2C2F54F924B7}" destId="{61315F49-1639-41A1-9C74-2742FD6DC550}" srcOrd="0" destOrd="0" presId="urn:microsoft.com/office/officeart/2005/8/layout/cycle2"/>
    <dgm:cxn modelId="{BE0E37D4-2F0F-4443-9CC0-D7DE264FCEFA}" type="presOf" srcId="{2EFD1EDB-9368-4DA1-A416-6922E31B454A}" destId="{8EC5EE5B-6BB0-461D-A0AF-2CD1B6CD7178}" srcOrd="1" destOrd="0" presId="urn:microsoft.com/office/officeart/2005/8/layout/cycle2"/>
    <dgm:cxn modelId="{86BD48EC-6B19-40A5-A7E0-534EBC3E0548}" type="presOf" srcId="{5B6344FA-2837-400E-8E5D-783DBCCA055D}" destId="{4E570411-0B48-4005-AF36-3F4FED0FDCB7}" srcOrd="1" destOrd="0" presId="urn:microsoft.com/office/officeart/2005/8/layout/cycle2"/>
    <dgm:cxn modelId="{374543EE-11B3-4BCB-9B69-6110D9C97FBA}" type="presOf" srcId="{629A3AE0-E91C-4225-8E94-A08D61F2A789}" destId="{FD9BAA56-43BE-4EA6-AD01-4AC44798946D}" srcOrd="0" destOrd="0" presId="urn:microsoft.com/office/officeart/2005/8/layout/cycle2"/>
    <dgm:cxn modelId="{02B30DEF-1DBF-4362-B627-8293D27A9DA8}" srcId="{31C1B165-ADA3-40F5-B49A-3FEEF238BA57}" destId="{629A3AE0-E91C-4225-8E94-A08D61F2A789}" srcOrd="5" destOrd="0" parTransId="{8F3EC129-B837-4E90-85E1-D0003581C790}" sibTransId="{4CDA6595-A009-4BFC-B1C0-C8DA4E97E1E0}"/>
    <dgm:cxn modelId="{4662D5E9-5AF7-4F44-9775-4642A8CA1818}" type="presParOf" srcId="{38024A21-7E28-42C7-B06A-6064E25C031C}" destId="{5C1C8E9B-C22B-4ABF-A66D-9F9E5E77087D}" srcOrd="0" destOrd="0" presId="urn:microsoft.com/office/officeart/2005/8/layout/cycle2"/>
    <dgm:cxn modelId="{B1A9772D-0BB3-48CB-B1EA-3F77F626BC54}" type="presParOf" srcId="{38024A21-7E28-42C7-B06A-6064E25C031C}" destId="{E62B02E4-2665-4117-A36D-3DE4A53209D0}" srcOrd="1" destOrd="0" presId="urn:microsoft.com/office/officeart/2005/8/layout/cycle2"/>
    <dgm:cxn modelId="{9538931C-2C25-4FD7-9756-389F3CB5A09B}" type="presParOf" srcId="{E62B02E4-2665-4117-A36D-3DE4A53209D0}" destId="{8EC5EE5B-6BB0-461D-A0AF-2CD1B6CD7178}" srcOrd="0" destOrd="0" presId="urn:microsoft.com/office/officeart/2005/8/layout/cycle2"/>
    <dgm:cxn modelId="{CA94807F-2BD5-4847-8405-E2402E4CB31D}" type="presParOf" srcId="{38024A21-7E28-42C7-B06A-6064E25C031C}" destId="{EB50A322-591B-4637-B375-96042BA39385}" srcOrd="2" destOrd="0" presId="urn:microsoft.com/office/officeart/2005/8/layout/cycle2"/>
    <dgm:cxn modelId="{F965CF34-E967-40B7-A22A-A2D4243759D6}" type="presParOf" srcId="{38024A21-7E28-42C7-B06A-6064E25C031C}" destId="{E7518E01-722E-4328-839E-3F3EA24A8283}" srcOrd="3" destOrd="0" presId="urn:microsoft.com/office/officeart/2005/8/layout/cycle2"/>
    <dgm:cxn modelId="{3FDF6617-DB5D-442E-9059-7F0D43130AA9}" type="presParOf" srcId="{E7518E01-722E-4328-839E-3F3EA24A8283}" destId="{366F1606-F52A-4BA4-8F2E-2ECE5986E739}" srcOrd="0" destOrd="0" presId="urn:microsoft.com/office/officeart/2005/8/layout/cycle2"/>
    <dgm:cxn modelId="{CE3F7FBA-3CC6-4046-98EC-B80A1F3048AB}" type="presParOf" srcId="{38024A21-7E28-42C7-B06A-6064E25C031C}" destId="{B0FEAB9B-BDE9-4BAA-A59D-A0A2A2B1208D}" srcOrd="4" destOrd="0" presId="urn:microsoft.com/office/officeart/2005/8/layout/cycle2"/>
    <dgm:cxn modelId="{2D510730-BC68-42B3-8F6D-F08A215786CA}" type="presParOf" srcId="{38024A21-7E28-42C7-B06A-6064E25C031C}" destId="{6BB2DD3B-7F94-4A02-9F68-FDF4AD414A86}" srcOrd="5" destOrd="0" presId="urn:microsoft.com/office/officeart/2005/8/layout/cycle2"/>
    <dgm:cxn modelId="{D1ED2E59-FE1F-4CDD-A66F-BEBDE0DB4B57}" type="presParOf" srcId="{6BB2DD3B-7F94-4A02-9F68-FDF4AD414A86}" destId="{11C6B330-EB40-4E39-AFDD-C6CEC34B406A}" srcOrd="0" destOrd="0" presId="urn:microsoft.com/office/officeart/2005/8/layout/cycle2"/>
    <dgm:cxn modelId="{59D41360-04C2-4272-B866-63414ED45AE8}" type="presParOf" srcId="{38024A21-7E28-42C7-B06A-6064E25C031C}" destId="{987BD6B0-D307-48A4-B104-C4E0506CBC4B}" srcOrd="6" destOrd="0" presId="urn:microsoft.com/office/officeart/2005/8/layout/cycle2"/>
    <dgm:cxn modelId="{DC2C9CA0-D720-4D73-851C-659ADB295AA4}" type="presParOf" srcId="{38024A21-7E28-42C7-B06A-6064E25C031C}" destId="{466EFE7D-C389-420C-8D30-173538C89536}" srcOrd="7" destOrd="0" presId="urn:microsoft.com/office/officeart/2005/8/layout/cycle2"/>
    <dgm:cxn modelId="{1EFB4E46-3F08-4A83-BA43-659A352DD5FA}" type="presParOf" srcId="{466EFE7D-C389-420C-8D30-173538C89536}" destId="{4E570411-0B48-4005-AF36-3F4FED0FDCB7}" srcOrd="0" destOrd="0" presId="urn:microsoft.com/office/officeart/2005/8/layout/cycle2"/>
    <dgm:cxn modelId="{0A6552AB-81B5-448A-9DDA-FC6F72F225F9}" type="presParOf" srcId="{38024A21-7E28-42C7-B06A-6064E25C031C}" destId="{61315F49-1639-41A1-9C74-2742FD6DC550}" srcOrd="8" destOrd="0" presId="urn:microsoft.com/office/officeart/2005/8/layout/cycle2"/>
    <dgm:cxn modelId="{ADB223C0-A09D-4394-8869-E695E8E66BA1}" type="presParOf" srcId="{38024A21-7E28-42C7-B06A-6064E25C031C}" destId="{FFCAEA36-1001-477C-B84A-D5084B92A1D5}" srcOrd="9" destOrd="0" presId="urn:microsoft.com/office/officeart/2005/8/layout/cycle2"/>
    <dgm:cxn modelId="{FA25A6CC-08E5-48FD-848D-5314C2379C46}" type="presParOf" srcId="{FFCAEA36-1001-477C-B84A-D5084B92A1D5}" destId="{B1CABECF-6F08-4919-834F-5BFAF3648EB3}" srcOrd="0" destOrd="0" presId="urn:microsoft.com/office/officeart/2005/8/layout/cycle2"/>
    <dgm:cxn modelId="{1631723F-6186-477D-BB66-1C61F1BCC7CE}" type="presParOf" srcId="{38024A21-7E28-42C7-B06A-6064E25C031C}" destId="{FD9BAA56-43BE-4EA6-AD01-4AC44798946D}" srcOrd="10" destOrd="0" presId="urn:microsoft.com/office/officeart/2005/8/layout/cycle2"/>
    <dgm:cxn modelId="{DE0FB1BB-AC87-4A0C-BAF5-56E189D89090}" type="presParOf" srcId="{38024A21-7E28-42C7-B06A-6064E25C031C}" destId="{5441495B-84BA-4C2D-9892-DAAF761932D7}" srcOrd="11" destOrd="0" presId="urn:microsoft.com/office/officeart/2005/8/layout/cycle2"/>
    <dgm:cxn modelId="{8CBEFC03-C182-4B98-9844-8C3F6AEE56B6}" type="presParOf" srcId="{5441495B-84BA-4C2D-9892-DAAF761932D7}" destId="{EB651ADF-7959-4B14-8CF3-46AEC5027FC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C6B2E6-987C-4898-A2E8-029CF81DB6FC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E74A9BE-386B-461C-9B95-37765DBE72D5}">
      <dgm:prSet/>
      <dgm:spPr/>
      <dgm:t>
        <a:bodyPr/>
        <a:lstStyle/>
        <a:p>
          <a:r>
            <a:rPr lang="en-US" b="1"/>
            <a:t>Key Achievements / Results (Very Short)</a:t>
          </a:r>
          <a:endParaRPr lang="en-US"/>
        </a:p>
      </dgm:t>
    </dgm:pt>
    <dgm:pt modelId="{A7F94DC0-5869-4513-868A-EAA8988BB37A}" type="parTrans" cxnId="{6DFBB000-D0C3-4348-9AD9-FBF1ECE7377C}">
      <dgm:prSet/>
      <dgm:spPr/>
      <dgm:t>
        <a:bodyPr/>
        <a:lstStyle/>
        <a:p>
          <a:endParaRPr lang="en-US"/>
        </a:p>
      </dgm:t>
    </dgm:pt>
    <dgm:pt modelId="{E36193FB-B331-4227-A472-4D890D47A40E}" type="sibTrans" cxnId="{6DFBB000-D0C3-4348-9AD9-FBF1ECE7377C}">
      <dgm:prSet/>
      <dgm:spPr/>
      <dgm:t>
        <a:bodyPr/>
        <a:lstStyle/>
        <a:p>
          <a:endParaRPr lang="en-US"/>
        </a:p>
      </dgm:t>
    </dgm:pt>
    <dgm:pt modelId="{6936C736-5A59-45AC-8A27-B93B1131F515}">
      <dgm:prSet/>
      <dgm:spPr/>
      <dgm:t>
        <a:bodyPr/>
        <a:lstStyle/>
        <a:p>
          <a:r>
            <a:rPr lang="en-US"/>
            <a:t>Successfully built a </a:t>
          </a:r>
          <a:r>
            <a:rPr lang="en-US" b="1"/>
            <a:t>multi-sensor sleep tracking prototype</a:t>
          </a:r>
          <a:r>
            <a:rPr lang="en-US"/>
            <a:t> using MAX30102, MPU6050, and MAX4466.</a:t>
          </a:r>
        </a:p>
      </dgm:t>
    </dgm:pt>
    <dgm:pt modelId="{3F5435C2-B7B1-4DBC-B4D0-F3D6504C5BF3}" type="parTrans" cxnId="{169D50A3-F1BC-4912-8F7D-6EEE0B6AF301}">
      <dgm:prSet/>
      <dgm:spPr/>
      <dgm:t>
        <a:bodyPr/>
        <a:lstStyle/>
        <a:p>
          <a:endParaRPr lang="en-US"/>
        </a:p>
      </dgm:t>
    </dgm:pt>
    <dgm:pt modelId="{2805BF90-09D7-4A4B-8D6C-531B744F2FB7}" type="sibTrans" cxnId="{169D50A3-F1BC-4912-8F7D-6EEE0B6AF301}">
      <dgm:prSet/>
      <dgm:spPr/>
      <dgm:t>
        <a:bodyPr/>
        <a:lstStyle/>
        <a:p>
          <a:endParaRPr lang="en-US"/>
        </a:p>
      </dgm:t>
    </dgm:pt>
    <dgm:pt modelId="{3CE94D6F-52A6-4D72-8AD7-A368CFF76049}">
      <dgm:prSet/>
      <dgm:spPr/>
      <dgm:t>
        <a:bodyPr/>
        <a:lstStyle/>
        <a:p>
          <a:r>
            <a:rPr lang="en-US"/>
            <a:t>Achieved </a:t>
          </a:r>
          <a:r>
            <a:rPr lang="en-US" b="1"/>
            <a:t>accurate heart-rate, movement, and sound detection</a:t>
          </a:r>
          <a:r>
            <a:rPr lang="en-US"/>
            <a:t> during sleep.</a:t>
          </a:r>
        </a:p>
      </dgm:t>
    </dgm:pt>
    <dgm:pt modelId="{60B2A46A-7A75-482F-92DA-D7913C25BA89}" type="parTrans" cxnId="{F7834501-A0CF-4063-B663-3F133FDBD9B8}">
      <dgm:prSet/>
      <dgm:spPr/>
      <dgm:t>
        <a:bodyPr/>
        <a:lstStyle/>
        <a:p>
          <a:endParaRPr lang="en-US"/>
        </a:p>
      </dgm:t>
    </dgm:pt>
    <dgm:pt modelId="{911670CF-3CD6-4AC8-BFA3-CDDACAF07A83}" type="sibTrans" cxnId="{F7834501-A0CF-4063-B663-3F133FDBD9B8}">
      <dgm:prSet/>
      <dgm:spPr/>
      <dgm:t>
        <a:bodyPr/>
        <a:lstStyle/>
        <a:p>
          <a:endParaRPr lang="en-US"/>
        </a:p>
      </dgm:t>
    </dgm:pt>
    <dgm:pt modelId="{32483851-4D8E-4E12-B76A-D91092532B2C}">
      <dgm:prSet/>
      <dgm:spPr/>
      <dgm:t>
        <a:bodyPr/>
        <a:lstStyle/>
        <a:p>
          <a:r>
            <a:rPr lang="en-US" b="1"/>
            <a:t>How the Solution Benefits Users / Society</a:t>
          </a:r>
          <a:endParaRPr lang="en-US"/>
        </a:p>
      </dgm:t>
    </dgm:pt>
    <dgm:pt modelId="{663E9127-1B81-438C-8299-EC03EB6F370E}" type="parTrans" cxnId="{CF26ACA6-0568-4F7E-9FC6-9B315F000AB3}">
      <dgm:prSet/>
      <dgm:spPr/>
      <dgm:t>
        <a:bodyPr/>
        <a:lstStyle/>
        <a:p>
          <a:endParaRPr lang="en-US"/>
        </a:p>
      </dgm:t>
    </dgm:pt>
    <dgm:pt modelId="{D1AB0E45-47AC-4B85-BF6D-7FE945DCB8A5}" type="sibTrans" cxnId="{CF26ACA6-0568-4F7E-9FC6-9B315F000AB3}">
      <dgm:prSet/>
      <dgm:spPr/>
      <dgm:t>
        <a:bodyPr/>
        <a:lstStyle/>
        <a:p>
          <a:endParaRPr lang="en-US"/>
        </a:p>
      </dgm:t>
    </dgm:pt>
    <dgm:pt modelId="{C82000D0-F3CF-46D2-8E04-204A1E2F0348}">
      <dgm:prSet/>
      <dgm:spPr/>
      <dgm:t>
        <a:bodyPr/>
        <a:lstStyle/>
        <a:p>
          <a:r>
            <a:rPr lang="en-US"/>
            <a:t>Helps users </a:t>
          </a:r>
          <a:r>
            <a:rPr lang="en-US" b="1"/>
            <a:t>understand their sleep quality</a:t>
          </a:r>
          <a:r>
            <a:rPr lang="en-US"/>
            <a:t> without expensive medical equipment.</a:t>
          </a:r>
        </a:p>
      </dgm:t>
    </dgm:pt>
    <dgm:pt modelId="{F8CED6D4-8D1D-465F-8DD8-482912FCD36F}" type="parTrans" cxnId="{C01E9409-A3F2-4EC8-B11D-0334EF65C5FF}">
      <dgm:prSet/>
      <dgm:spPr/>
      <dgm:t>
        <a:bodyPr/>
        <a:lstStyle/>
        <a:p>
          <a:endParaRPr lang="en-US"/>
        </a:p>
      </dgm:t>
    </dgm:pt>
    <dgm:pt modelId="{2FA140B4-DF9D-4A34-AD04-060DC8AD47D1}" type="sibTrans" cxnId="{C01E9409-A3F2-4EC8-B11D-0334EF65C5FF}">
      <dgm:prSet/>
      <dgm:spPr/>
      <dgm:t>
        <a:bodyPr/>
        <a:lstStyle/>
        <a:p>
          <a:endParaRPr lang="en-US"/>
        </a:p>
      </dgm:t>
    </dgm:pt>
    <dgm:pt modelId="{EDCB118F-832E-4CD1-A194-A39DFDE9849A}">
      <dgm:prSet/>
      <dgm:spPr/>
      <dgm:t>
        <a:bodyPr/>
        <a:lstStyle/>
        <a:p>
          <a:r>
            <a:rPr lang="en-US"/>
            <a:t>Detects patterns related to </a:t>
          </a:r>
          <a:r>
            <a:rPr lang="en-US" b="1"/>
            <a:t>stress, poor sleep habits, or breathing issues</a:t>
          </a:r>
          <a:r>
            <a:rPr lang="en-US"/>
            <a:t>.</a:t>
          </a:r>
        </a:p>
      </dgm:t>
    </dgm:pt>
    <dgm:pt modelId="{16F33E6D-DAA3-4015-ADFA-2780B7980AFB}" type="parTrans" cxnId="{59C072CE-9F15-407A-935B-B24293120096}">
      <dgm:prSet/>
      <dgm:spPr/>
      <dgm:t>
        <a:bodyPr/>
        <a:lstStyle/>
        <a:p>
          <a:endParaRPr lang="en-US"/>
        </a:p>
      </dgm:t>
    </dgm:pt>
    <dgm:pt modelId="{BCA3974E-E321-41A6-858D-85E26780D070}" type="sibTrans" cxnId="{59C072CE-9F15-407A-935B-B24293120096}">
      <dgm:prSet/>
      <dgm:spPr/>
      <dgm:t>
        <a:bodyPr/>
        <a:lstStyle/>
        <a:p>
          <a:endParaRPr lang="en-US"/>
        </a:p>
      </dgm:t>
    </dgm:pt>
    <dgm:pt modelId="{072DFFAC-7500-43B2-8F9A-21E7DD1EF1EC}">
      <dgm:prSet/>
      <dgm:spPr/>
      <dgm:t>
        <a:bodyPr/>
        <a:lstStyle/>
        <a:p>
          <a:r>
            <a:rPr lang="en-US"/>
            <a:t>Encourages better sleep routines with </a:t>
          </a:r>
          <a:r>
            <a:rPr lang="en-US" b="1"/>
            <a:t>data-driven insights</a:t>
          </a:r>
          <a:r>
            <a:rPr lang="en-US"/>
            <a:t>.</a:t>
          </a:r>
        </a:p>
      </dgm:t>
    </dgm:pt>
    <dgm:pt modelId="{1A79F13D-5050-4418-A78A-92F11D85A5AB}" type="parTrans" cxnId="{7BF77B09-14E9-4FF4-8562-0EC1A0B33CB4}">
      <dgm:prSet/>
      <dgm:spPr/>
      <dgm:t>
        <a:bodyPr/>
        <a:lstStyle/>
        <a:p>
          <a:endParaRPr lang="en-US"/>
        </a:p>
      </dgm:t>
    </dgm:pt>
    <dgm:pt modelId="{DF4A5A81-9A8C-4FDC-85C8-69EB903E673F}" type="sibTrans" cxnId="{7BF77B09-14E9-4FF4-8562-0EC1A0B33CB4}">
      <dgm:prSet/>
      <dgm:spPr/>
      <dgm:t>
        <a:bodyPr/>
        <a:lstStyle/>
        <a:p>
          <a:endParaRPr lang="en-US"/>
        </a:p>
      </dgm:t>
    </dgm:pt>
    <dgm:pt modelId="{517F6095-5656-4117-BC07-FEA77AB5C708}">
      <dgm:prSet/>
      <dgm:spPr/>
      <dgm:t>
        <a:bodyPr/>
        <a:lstStyle/>
        <a:p>
          <a:r>
            <a:rPr lang="en-US" b="1"/>
            <a:t>Comparison / Feedback</a:t>
          </a:r>
          <a:endParaRPr lang="en-US"/>
        </a:p>
      </dgm:t>
    </dgm:pt>
    <dgm:pt modelId="{61D93814-0F29-483D-9A84-332D4B241A13}" type="parTrans" cxnId="{B904021B-5C0B-4144-85B6-2855A6C0BB44}">
      <dgm:prSet/>
      <dgm:spPr/>
      <dgm:t>
        <a:bodyPr/>
        <a:lstStyle/>
        <a:p>
          <a:endParaRPr lang="en-US"/>
        </a:p>
      </dgm:t>
    </dgm:pt>
    <dgm:pt modelId="{7651E4CB-6430-44B1-82A8-18085EECF0A9}" type="sibTrans" cxnId="{B904021B-5C0B-4144-85B6-2855A6C0BB44}">
      <dgm:prSet/>
      <dgm:spPr/>
      <dgm:t>
        <a:bodyPr/>
        <a:lstStyle/>
        <a:p>
          <a:endParaRPr lang="en-US"/>
        </a:p>
      </dgm:t>
    </dgm:pt>
    <dgm:pt modelId="{9E5524EE-7704-46A8-9309-E3875BABE146}">
      <dgm:prSet/>
      <dgm:spPr/>
      <dgm:t>
        <a:bodyPr/>
        <a:lstStyle/>
        <a:p>
          <a:r>
            <a:rPr lang="en-US"/>
            <a:t>Compared to app-based trackers, this hardware model gives </a:t>
          </a:r>
          <a:r>
            <a:rPr lang="en-US" b="1"/>
            <a:t>more accurate physiological data</a:t>
          </a:r>
          <a:r>
            <a:rPr lang="en-US"/>
            <a:t> (real heart rate &amp; motion).</a:t>
          </a:r>
        </a:p>
      </dgm:t>
    </dgm:pt>
    <dgm:pt modelId="{B87FF30B-3D54-45B0-A56B-4CC91B09C145}" type="parTrans" cxnId="{0C2408B4-D9C3-4D56-A8BB-F8EEA6128AFE}">
      <dgm:prSet/>
      <dgm:spPr/>
      <dgm:t>
        <a:bodyPr/>
        <a:lstStyle/>
        <a:p>
          <a:endParaRPr lang="en-US"/>
        </a:p>
      </dgm:t>
    </dgm:pt>
    <dgm:pt modelId="{792CD26F-820C-44B7-9DE5-A7F1A42E1D36}" type="sibTrans" cxnId="{0C2408B4-D9C3-4D56-A8BB-F8EEA6128AFE}">
      <dgm:prSet/>
      <dgm:spPr/>
      <dgm:t>
        <a:bodyPr/>
        <a:lstStyle/>
        <a:p>
          <a:endParaRPr lang="en-US"/>
        </a:p>
      </dgm:t>
    </dgm:pt>
    <dgm:pt modelId="{AD2B3A55-C10E-4F10-84B3-561E6D5FAC59}" type="pres">
      <dgm:prSet presAssocID="{F7C6B2E6-987C-4898-A2E8-029CF81DB6FC}" presName="diagram" presStyleCnt="0">
        <dgm:presLayoutVars>
          <dgm:dir/>
          <dgm:resizeHandles val="exact"/>
        </dgm:presLayoutVars>
      </dgm:prSet>
      <dgm:spPr/>
    </dgm:pt>
    <dgm:pt modelId="{55FDDB1E-71F4-4E17-8542-053D45162881}" type="pres">
      <dgm:prSet presAssocID="{8E74A9BE-386B-461C-9B95-37765DBE72D5}" presName="node" presStyleLbl="node1" presStyleIdx="0" presStyleCnt="9">
        <dgm:presLayoutVars>
          <dgm:bulletEnabled val="1"/>
        </dgm:presLayoutVars>
      </dgm:prSet>
      <dgm:spPr/>
    </dgm:pt>
    <dgm:pt modelId="{AF29940C-3DBB-4775-9E3E-47B2B83D1FF1}" type="pres">
      <dgm:prSet presAssocID="{E36193FB-B331-4227-A472-4D890D47A40E}" presName="sibTrans" presStyleCnt="0"/>
      <dgm:spPr/>
    </dgm:pt>
    <dgm:pt modelId="{ED7D9269-AE8C-4B44-9480-75C02AF3BB10}" type="pres">
      <dgm:prSet presAssocID="{6936C736-5A59-45AC-8A27-B93B1131F515}" presName="node" presStyleLbl="node1" presStyleIdx="1" presStyleCnt="9">
        <dgm:presLayoutVars>
          <dgm:bulletEnabled val="1"/>
        </dgm:presLayoutVars>
      </dgm:prSet>
      <dgm:spPr/>
    </dgm:pt>
    <dgm:pt modelId="{4981169F-4D72-48ED-8E20-F1F15C314611}" type="pres">
      <dgm:prSet presAssocID="{2805BF90-09D7-4A4B-8D6C-531B744F2FB7}" presName="sibTrans" presStyleCnt="0"/>
      <dgm:spPr/>
    </dgm:pt>
    <dgm:pt modelId="{312A421C-BF6D-4A4C-B25E-412B74EC8369}" type="pres">
      <dgm:prSet presAssocID="{3CE94D6F-52A6-4D72-8AD7-A368CFF76049}" presName="node" presStyleLbl="node1" presStyleIdx="2" presStyleCnt="9">
        <dgm:presLayoutVars>
          <dgm:bulletEnabled val="1"/>
        </dgm:presLayoutVars>
      </dgm:prSet>
      <dgm:spPr/>
    </dgm:pt>
    <dgm:pt modelId="{76E8F86B-F6F7-4D99-95B3-D64F3FEB8E3C}" type="pres">
      <dgm:prSet presAssocID="{911670CF-3CD6-4AC8-BFA3-CDDACAF07A83}" presName="sibTrans" presStyleCnt="0"/>
      <dgm:spPr/>
    </dgm:pt>
    <dgm:pt modelId="{58D2FEA1-EA3D-46CF-A694-697B5FB82C9B}" type="pres">
      <dgm:prSet presAssocID="{32483851-4D8E-4E12-B76A-D91092532B2C}" presName="node" presStyleLbl="node1" presStyleIdx="3" presStyleCnt="9">
        <dgm:presLayoutVars>
          <dgm:bulletEnabled val="1"/>
        </dgm:presLayoutVars>
      </dgm:prSet>
      <dgm:spPr/>
    </dgm:pt>
    <dgm:pt modelId="{3B10068B-05C0-4771-B690-A12B2E65624C}" type="pres">
      <dgm:prSet presAssocID="{D1AB0E45-47AC-4B85-BF6D-7FE945DCB8A5}" presName="sibTrans" presStyleCnt="0"/>
      <dgm:spPr/>
    </dgm:pt>
    <dgm:pt modelId="{F7E11C0B-5185-453C-A7B9-DBE97666D62D}" type="pres">
      <dgm:prSet presAssocID="{C82000D0-F3CF-46D2-8E04-204A1E2F0348}" presName="node" presStyleLbl="node1" presStyleIdx="4" presStyleCnt="9">
        <dgm:presLayoutVars>
          <dgm:bulletEnabled val="1"/>
        </dgm:presLayoutVars>
      </dgm:prSet>
      <dgm:spPr/>
    </dgm:pt>
    <dgm:pt modelId="{51CE4BF9-6DB4-46AE-A04F-46DB9F1B9317}" type="pres">
      <dgm:prSet presAssocID="{2FA140B4-DF9D-4A34-AD04-060DC8AD47D1}" presName="sibTrans" presStyleCnt="0"/>
      <dgm:spPr/>
    </dgm:pt>
    <dgm:pt modelId="{BC2B406A-54FC-42B9-8C8F-925F1CF568F8}" type="pres">
      <dgm:prSet presAssocID="{EDCB118F-832E-4CD1-A194-A39DFDE9849A}" presName="node" presStyleLbl="node1" presStyleIdx="5" presStyleCnt="9">
        <dgm:presLayoutVars>
          <dgm:bulletEnabled val="1"/>
        </dgm:presLayoutVars>
      </dgm:prSet>
      <dgm:spPr/>
    </dgm:pt>
    <dgm:pt modelId="{C209B6AD-3EA2-4F07-B904-3CAD41050B5C}" type="pres">
      <dgm:prSet presAssocID="{BCA3974E-E321-41A6-858D-85E26780D070}" presName="sibTrans" presStyleCnt="0"/>
      <dgm:spPr/>
    </dgm:pt>
    <dgm:pt modelId="{50A706A3-3B42-41E2-B1BC-C4DD11263D30}" type="pres">
      <dgm:prSet presAssocID="{072DFFAC-7500-43B2-8F9A-21E7DD1EF1EC}" presName="node" presStyleLbl="node1" presStyleIdx="6" presStyleCnt="9">
        <dgm:presLayoutVars>
          <dgm:bulletEnabled val="1"/>
        </dgm:presLayoutVars>
      </dgm:prSet>
      <dgm:spPr/>
    </dgm:pt>
    <dgm:pt modelId="{F2E6BD07-8E8F-4F35-ADB9-B8E830EDB21E}" type="pres">
      <dgm:prSet presAssocID="{DF4A5A81-9A8C-4FDC-85C8-69EB903E673F}" presName="sibTrans" presStyleCnt="0"/>
      <dgm:spPr/>
    </dgm:pt>
    <dgm:pt modelId="{43B317DF-A29E-4EB5-9933-51CD0C45BA0C}" type="pres">
      <dgm:prSet presAssocID="{517F6095-5656-4117-BC07-FEA77AB5C708}" presName="node" presStyleLbl="node1" presStyleIdx="7" presStyleCnt="9">
        <dgm:presLayoutVars>
          <dgm:bulletEnabled val="1"/>
        </dgm:presLayoutVars>
      </dgm:prSet>
      <dgm:spPr/>
    </dgm:pt>
    <dgm:pt modelId="{34094EB2-487B-4CA7-A893-55F6F0479F31}" type="pres">
      <dgm:prSet presAssocID="{7651E4CB-6430-44B1-82A8-18085EECF0A9}" presName="sibTrans" presStyleCnt="0"/>
      <dgm:spPr/>
    </dgm:pt>
    <dgm:pt modelId="{8FD6B64D-58FA-4923-842F-80413BC41FA0}" type="pres">
      <dgm:prSet presAssocID="{9E5524EE-7704-46A8-9309-E3875BABE146}" presName="node" presStyleLbl="node1" presStyleIdx="8" presStyleCnt="9">
        <dgm:presLayoutVars>
          <dgm:bulletEnabled val="1"/>
        </dgm:presLayoutVars>
      </dgm:prSet>
      <dgm:spPr/>
    </dgm:pt>
  </dgm:ptLst>
  <dgm:cxnLst>
    <dgm:cxn modelId="{6DFBB000-D0C3-4348-9AD9-FBF1ECE7377C}" srcId="{F7C6B2E6-987C-4898-A2E8-029CF81DB6FC}" destId="{8E74A9BE-386B-461C-9B95-37765DBE72D5}" srcOrd="0" destOrd="0" parTransId="{A7F94DC0-5869-4513-868A-EAA8988BB37A}" sibTransId="{E36193FB-B331-4227-A472-4D890D47A40E}"/>
    <dgm:cxn modelId="{DC273B01-A5C6-4355-8610-CE431201FBA5}" type="presOf" srcId="{6936C736-5A59-45AC-8A27-B93B1131F515}" destId="{ED7D9269-AE8C-4B44-9480-75C02AF3BB10}" srcOrd="0" destOrd="0" presId="urn:microsoft.com/office/officeart/2005/8/layout/default"/>
    <dgm:cxn modelId="{F7834501-A0CF-4063-B663-3F133FDBD9B8}" srcId="{F7C6B2E6-987C-4898-A2E8-029CF81DB6FC}" destId="{3CE94D6F-52A6-4D72-8AD7-A368CFF76049}" srcOrd="2" destOrd="0" parTransId="{60B2A46A-7A75-482F-92DA-D7913C25BA89}" sibTransId="{911670CF-3CD6-4AC8-BFA3-CDDACAF07A83}"/>
    <dgm:cxn modelId="{C059CC06-FF25-4FDD-B631-54A05BE0AFFD}" type="presOf" srcId="{072DFFAC-7500-43B2-8F9A-21E7DD1EF1EC}" destId="{50A706A3-3B42-41E2-B1BC-C4DD11263D30}" srcOrd="0" destOrd="0" presId="urn:microsoft.com/office/officeart/2005/8/layout/default"/>
    <dgm:cxn modelId="{E8C2E806-67E6-4F00-BBD9-85990E5D001D}" type="presOf" srcId="{9E5524EE-7704-46A8-9309-E3875BABE146}" destId="{8FD6B64D-58FA-4923-842F-80413BC41FA0}" srcOrd="0" destOrd="0" presId="urn:microsoft.com/office/officeart/2005/8/layout/default"/>
    <dgm:cxn modelId="{7BF77B09-14E9-4FF4-8562-0EC1A0B33CB4}" srcId="{F7C6B2E6-987C-4898-A2E8-029CF81DB6FC}" destId="{072DFFAC-7500-43B2-8F9A-21E7DD1EF1EC}" srcOrd="6" destOrd="0" parTransId="{1A79F13D-5050-4418-A78A-92F11D85A5AB}" sibTransId="{DF4A5A81-9A8C-4FDC-85C8-69EB903E673F}"/>
    <dgm:cxn modelId="{C01E9409-A3F2-4EC8-B11D-0334EF65C5FF}" srcId="{F7C6B2E6-987C-4898-A2E8-029CF81DB6FC}" destId="{C82000D0-F3CF-46D2-8E04-204A1E2F0348}" srcOrd="4" destOrd="0" parTransId="{F8CED6D4-8D1D-465F-8DD8-482912FCD36F}" sibTransId="{2FA140B4-DF9D-4A34-AD04-060DC8AD47D1}"/>
    <dgm:cxn modelId="{B904021B-5C0B-4144-85B6-2855A6C0BB44}" srcId="{F7C6B2E6-987C-4898-A2E8-029CF81DB6FC}" destId="{517F6095-5656-4117-BC07-FEA77AB5C708}" srcOrd="7" destOrd="0" parTransId="{61D93814-0F29-483D-9A84-332D4B241A13}" sibTransId="{7651E4CB-6430-44B1-82A8-18085EECF0A9}"/>
    <dgm:cxn modelId="{01714E61-A67A-4B87-BDFE-A62E579619B2}" type="presOf" srcId="{F7C6B2E6-987C-4898-A2E8-029CF81DB6FC}" destId="{AD2B3A55-C10E-4F10-84B3-561E6D5FAC59}" srcOrd="0" destOrd="0" presId="urn:microsoft.com/office/officeart/2005/8/layout/default"/>
    <dgm:cxn modelId="{2A9E0764-135B-4115-8C29-A0ED6F8D7BC6}" type="presOf" srcId="{8E74A9BE-386B-461C-9B95-37765DBE72D5}" destId="{55FDDB1E-71F4-4E17-8542-053D45162881}" srcOrd="0" destOrd="0" presId="urn:microsoft.com/office/officeart/2005/8/layout/default"/>
    <dgm:cxn modelId="{CD5F9191-653F-42A8-AEDF-0D7BAE3A082E}" type="presOf" srcId="{32483851-4D8E-4E12-B76A-D91092532B2C}" destId="{58D2FEA1-EA3D-46CF-A694-697B5FB82C9B}" srcOrd="0" destOrd="0" presId="urn:microsoft.com/office/officeart/2005/8/layout/default"/>
    <dgm:cxn modelId="{312B36A1-2EEF-43E0-9F38-40452CB26147}" type="presOf" srcId="{517F6095-5656-4117-BC07-FEA77AB5C708}" destId="{43B317DF-A29E-4EB5-9933-51CD0C45BA0C}" srcOrd="0" destOrd="0" presId="urn:microsoft.com/office/officeart/2005/8/layout/default"/>
    <dgm:cxn modelId="{169D50A3-F1BC-4912-8F7D-6EEE0B6AF301}" srcId="{F7C6B2E6-987C-4898-A2E8-029CF81DB6FC}" destId="{6936C736-5A59-45AC-8A27-B93B1131F515}" srcOrd="1" destOrd="0" parTransId="{3F5435C2-B7B1-4DBC-B4D0-F3D6504C5BF3}" sibTransId="{2805BF90-09D7-4A4B-8D6C-531B744F2FB7}"/>
    <dgm:cxn modelId="{CF26ACA6-0568-4F7E-9FC6-9B315F000AB3}" srcId="{F7C6B2E6-987C-4898-A2E8-029CF81DB6FC}" destId="{32483851-4D8E-4E12-B76A-D91092532B2C}" srcOrd="3" destOrd="0" parTransId="{663E9127-1B81-438C-8299-EC03EB6F370E}" sibTransId="{D1AB0E45-47AC-4B85-BF6D-7FE945DCB8A5}"/>
    <dgm:cxn modelId="{0C2408B4-D9C3-4D56-A8BB-F8EEA6128AFE}" srcId="{F7C6B2E6-987C-4898-A2E8-029CF81DB6FC}" destId="{9E5524EE-7704-46A8-9309-E3875BABE146}" srcOrd="8" destOrd="0" parTransId="{B87FF30B-3D54-45B0-A56B-4CC91B09C145}" sibTransId="{792CD26F-820C-44B7-9DE5-A7F1A42E1D36}"/>
    <dgm:cxn modelId="{D9AE52B7-F64D-4193-A3B2-27C5B24B11A0}" type="presOf" srcId="{3CE94D6F-52A6-4D72-8AD7-A368CFF76049}" destId="{312A421C-BF6D-4A4C-B25E-412B74EC8369}" srcOrd="0" destOrd="0" presId="urn:microsoft.com/office/officeart/2005/8/layout/default"/>
    <dgm:cxn modelId="{59C072CE-9F15-407A-935B-B24293120096}" srcId="{F7C6B2E6-987C-4898-A2E8-029CF81DB6FC}" destId="{EDCB118F-832E-4CD1-A194-A39DFDE9849A}" srcOrd="5" destOrd="0" parTransId="{16F33E6D-DAA3-4015-ADFA-2780B7980AFB}" sibTransId="{BCA3974E-E321-41A6-858D-85E26780D070}"/>
    <dgm:cxn modelId="{B38AC2E2-28F2-44C5-A507-EC36176D8D57}" type="presOf" srcId="{EDCB118F-832E-4CD1-A194-A39DFDE9849A}" destId="{BC2B406A-54FC-42B9-8C8F-925F1CF568F8}" srcOrd="0" destOrd="0" presId="urn:microsoft.com/office/officeart/2005/8/layout/default"/>
    <dgm:cxn modelId="{C53F15EB-F9D4-4E3E-A115-3BBC66D92C00}" type="presOf" srcId="{C82000D0-F3CF-46D2-8E04-204A1E2F0348}" destId="{F7E11C0B-5185-453C-A7B9-DBE97666D62D}" srcOrd="0" destOrd="0" presId="urn:microsoft.com/office/officeart/2005/8/layout/default"/>
    <dgm:cxn modelId="{E82B54A0-9493-4F5B-9E98-B93E81329B3A}" type="presParOf" srcId="{AD2B3A55-C10E-4F10-84B3-561E6D5FAC59}" destId="{55FDDB1E-71F4-4E17-8542-053D45162881}" srcOrd="0" destOrd="0" presId="urn:microsoft.com/office/officeart/2005/8/layout/default"/>
    <dgm:cxn modelId="{58A425E2-E0C9-4C30-A720-0B007B6507C6}" type="presParOf" srcId="{AD2B3A55-C10E-4F10-84B3-561E6D5FAC59}" destId="{AF29940C-3DBB-4775-9E3E-47B2B83D1FF1}" srcOrd="1" destOrd="0" presId="urn:microsoft.com/office/officeart/2005/8/layout/default"/>
    <dgm:cxn modelId="{7CC5836E-8F9B-406D-B2C6-B41D0AEB94E5}" type="presParOf" srcId="{AD2B3A55-C10E-4F10-84B3-561E6D5FAC59}" destId="{ED7D9269-AE8C-4B44-9480-75C02AF3BB10}" srcOrd="2" destOrd="0" presId="urn:microsoft.com/office/officeart/2005/8/layout/default"/>
    <dgm:cxn modelId="{E71FA2C7-3EB5-4320-AB8D-0B3443A20634}" type="presParOf" srcId="{AD2B3A55-C10E-4F10-84B3-561E6D5FAC59}" destId="{4981169F-4D72-48ED-8E20-F1F15C314611}" srcOrd="3" destOrd="0" presId="urn:microsoft.com/office/officeart/2005/8/layout/default"/>
    <dgm:cxn modelId="{0A7242B7-CB51-4829-B9C2-2F4A443B8B6A}" type="presParOf" srcId="{AD2B3A55-C10E-4F10-84B3-561E6D5FAC59}" destId="{312A421C-BF6D-4A4C-B25E-412B74EC8369}" srcOrd="4" destOrd="0" presId="urn:microsoft.com/office/officeart/2005/8/layout/default"/>
    <dgm:cxn modelId="{14F17897-B898-4E2C-800A-5F4AD2C88E70}" type="presParOf" srcId="{AD2B3A55-C10E-4F10-84B3-561E6D5FAC59}" destId="{76E8F86B-F6F7-4D99-95B3-D64F3FEB8E3C}" srcOrd="5" destOrd="0" presId="urn:microsoft.com/office/officeart/2005/8/layout/default"/>
    <dgm:cxn modelId="{46E2118A-B52E-4921-B6D8-EEA10283CE12}" type="presParOf" srcId="{AD2B3A55-C10E-4F10-84B3-561E6D5FAC59}" destId="{58D2FEA1-EA3D-46CF-A694-697B5FB82C9B}" srcOrd="6" destOrd="0" presId="urn:microsoft.com/office/officeart/2005/8/layout/default"/>
    <dgm:cxn modelId="{66F1FC87-ECE5-4540-B41C-C1075558E1CE}" type="presParOf" srcId="{AD2B3A55-C10E-4F10-84B3-561E6D5FAC59}" destId="{3B10068B-05C0-4771-B690-A12B2E65624C}" srcOrd="7" destOrd="0" presId="urn:microsoft.com/office/officeart/2005/8/layout/default"/>
    <dgm:cxn modelId="{DD0103CE-FB67-40BA-B20C-FB2DAE18C259}" type="presParOf" srcId="{AD2B3A55-C10E-4F10-84B3-561E6D5FAC59}" destId="{F7E11C0B-5185-453C-A7B9-DBE97666D62D}" srcOrd="8" destOrd="0" presId="urn:microsoft.com/office/officeart/2005/8/layout/default"/>
    <dgm:cxn modelId="{F1C0553F-DD59-4AB7-A0F4-E121208589DC}" type="presParOf" srcId="{AD2B3A55-C10E-4F10-84B3-561E6D5FAC59}" destId="{51CE4BF9-6DB4-46AE-A04F-46DB9F1B9317}" srcOrd="9" destOrd="0" presId="urn:microsoft.com/office/officeart/2005/8/layout/default"/>
    <dgm:cxn modelId="{59618A03-70FC-420E-9FE3-23686DC5E642}" type="presParOf" srcId="{AD2B3A55-C10E-4F10-84B3-561E6D5FAC59}" destId="{BC2B406A-54FC-42B9-8C8F-925F1CF568F8}" srcOrd="10" destOrd="0" presId="urn:microsoft.com/office/officeart/2005/8/layout/default"/>
    <dgm:cxn modelId="{E616D395-5BA8-4407-9569-15642F58BB0C}" type="presParOf" srcId="{AD2B3A55-C10E-4F10-84B3-561E6D5FAC59}" destId="{C209B6AD-3EA2-4F07-B904-3CAD41050B5C}" srcOrd="11" destOrd="0" presId="urn:microsoft.com/office/officeart/2005/8/layout/default"/>
    <dgm:cxn modelId="{BB9F448C-2333-464A-996A-84F2BAA24BDE}" type="presParOf" srcId="{AD2B3A55-C10E-4F10-84B3-561E6D5FAC59}" destId="{50A706A3-3B42-41E2-B1BC-C4DD11263D30}" srcOrd="12" destOrd="0" presId="urn:microsoft.com/office/officeart/2005/8/layout/default"/>
    <dgm:cxn modelId="{01AFA5B7-DD36-40B6-A8DB-BE56FBF6006C}" type="presParOf" srcId="{AD2B3A55-C10E-4F10-84B3-561E6D5FAC59}" destId="{F2E6BD07-8E8F-4F35-ADB9-B8E830EDB21E}" srcOrd="13" destOrd="0" presId="urn:microsoft.com/office/officeart/2005/8/layout/default"/>
    <dgm:cxn modelId="{EA899CB1-B4CA-4130-98A4-FCD81FE2913E}" type="presParOf" srcId="{AD2B3A55-C10E-4F10-84B3-561E6D5FAC59}" destId="{43B317DF-A29E-4EB5-9933-51CD0C45BA0C}" srcOrd="14" destOrd="0" presId="urn:microsoft.com/office/officeart/2005/8/layout/default"/>
    <dgm:cxn modelId="{FFA10E9B-797E-4099-A10A-F0C9CC7C1514}" type="presParOf" srcId="{AD2B3A55-C10E-4F10-84B3-561E6D5FAC59}" destId="{34094EB2-487B-4CA7-A893-55F6F0479F31}" srcOrd="15" destOrd="0" presId="urn:microsoft.com/office/officeart/2005/8/layout/default"/>
    <dgm:cxn modelId="{3609DB96-918E-4F6F-8477-B68ABA7E09B4}" type="presParOf" srcId="{AD2B3A55-C10E-4F10-84B3-561E6D5FAC59}" destId="{8FD6B64D-58FA-4923-842F-80413BC41FA0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C8E9B-C22B-4ABF-A66D-9F9E5E77087D}">
      <dsp:nvSpPr>
        <dsp:cNvPr id="0" name=""/>
        <dsp:cNvSpPr/>
      </dsp:nvSpPr>
      <dsp:spPr>
        <a:xfrm>
          <a:off x="2854045" y="800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Calibri"/>
              <a:ea typeface="Calibri"/>
              <a:cs typeface="Calibri"/>
            </a:rPr>
            <a:t>Heart-Rate Monitoring (MAX30102)</a:t>
          </a:r>
          <a:endParaRPr lang="en-GB" sz="1300" kern="1200" dirty="0"/>
        </a:p>
      </dsp:txBody>
      <dsp:txXfrm>
        <a:off x="3051922" y="198677"/>
        <a:ext cx="955436" cy="955436"/>
      </dsp:txXfrm>
    </dsp:sp>
    <dsp:sp modelId="{E62B02E4-2665-4117-A36D-3DE4A53209D0}">
      <dsp:nvSpPr>
        <dsp:cNvPr id="0" name=""/>
        <dsp:cNvSpPr/>
      </dsp:nvSpPr>
      <dsp:spPr>
        <a:xfrm rot="1800000">
          <a:off x="4219864" y="950651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4227088" y="1014896"/>
        <a:ext cx="251624" cy="273616"/>
      </dsp:txXfrm>
    </dsp:sp>
    <dsp:sp modelId="{EB50A322-591B-4637-B375-96042BA39385}">
      <dsp:nvSpPr>
        <dsp:cNvPr id="0" name=""/>
        <dsp:cNvSpPr/>
      </dsp:nvSpPr>
      <dsp:spPr>
        <a:xfrm>
          <a:off x="4611576" y="1015511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Calibri"/>
              <a:ea typeface="Calibri"/>
              <a:cs typeface="Calibri"/>
            </a:rPr>
            <a:t>Detects breathing patterns</a:t>
          </a:r>
          <a:endParaRPr lang="en-GB" sz="1300" kern="1200" dirty="0"/>
        </a:p>
      </dsp:txBody>
      <dsp:txXfrm>
        <a:off x="4809453" y="1213388"/>
        <a:ext cx="955436" cy="955436"/>
      </dsp:txXfrm>
    </dsp:sp>
    <dsp:sp modelId="{E7518E01-722E-4328-839E-3F3EA24A8283}">
      <dsp:nvSpPr>
        <dsp:cNvPr id="0" name=""/>
        <dsp:cNvSpPr/>
      </dsp:nvSpPr>
      <dsp:spPr>
        <a:xfrm rot="5400000">
          <a:off x="5107440" y="2467631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5161360" y="2504917"/>
        <a:ext cx="251624" cy="273616"/>
      </dsp:txXfrm>
    </dsp:sp>
    <dsp:sp modelId="{B0FEAB9B-BDE9-4BAA-A59D-A0A2A2B1208D}">
      <dsp:nvSpPr>
        <dsp:cNvPr id="0" name=""/>
        <dsp:cNvSpPr/>
      </dsp:nvSpPr>
      <dsp:spPr>
        <a:xfrm>
          <a:off x="4611576" y="3044934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Calibri"/>
              <a:ea typeface="Calibri"/>
              <a:cs typeface="Calibri"/>
            </a:rPr>
            <a:t>Identifies light sleep, deep sleep, or wake events</a:t>
          </a:r>
          <a:endParaRPr lang="en-GB" sz="1300" kern="1200" dirty="0"/>
        </a:p>
      </dsp:txBody>
      <dsp:txXfrm>
        <a:off x="4809453" y="3242811"/>
        <a:ext cx="955436" cy="955436"/>
      </dsp:txXfrm>
    </dsp:sp>
    <dsp:sp modelId="{6BB2DD3B-7F94-4A02-9F68-FDF4AD414A86}">
      <dsp:nvSpPr>
        <dsp:cNvPr id="0" name=""/>
        <dsp:cNvSpPr/>
      </dsp:nvSpPr>
      <dsp:spPr>
        <a:xfrm rot="9000000">
          <a:off x="4237485" y="3994785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4338100" y="4059030"/>
        <a:ext cx="251624" cy="273616"/>
      </dsp:txXfrm>
    </dsp:sp>
    <dsp:sp modelId="{987BD6B0-D307-48A4-B104-C4E0506CBC4B}">
      <dsp:nvSpPr>
        <dsp:cNvPr id="0" name=""/>
        <dsp:cNvSpPr/>
      </dsp:nvSpPr>
      <dsp:spPr>
        <a:xfrm>
          <a:off x="2854045" y="4059646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Calibri"/>
              <a:ea typeface="Calibri"/>
              <a:cs typeface="Calibri"/>
            </a:rPr>
            <a:t>Captures sudden disturbances (cough, noise)</a:t>
          </a:r>
          <a:endParaRPr lang="en-GB" sz="1300" kern="1200" dirty="0"/>
        </a:p>
      </dsp:txBody>
      <dsp:txXfrm>
        <a:off x="3051922" y="4257523"/>
        <a:ext cx="955436" cy="955436"/>
      </dsp:txXfrm>
    </dsp:sp>
    <dsp:sp modelId="{466EFE7D-C389-420C-8D30-173538C89536}">
      <dsp:nvSpPr>
        <dsp:cNvPr id="0" name=""/>
        <dsp:cNvSpPr/>
      </dsp:nvSpPr>
      <dsp:spPr>
        <a:xfrm rot="12600000">
          <a:off x="2479953" y="4004958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2580568" y="4123123"/>
        <a:ext cx="251624" cy="273616"/>
      </dsp:txXfrm>
    </dsp:sp>
    <dsp:sp modelId="{61315F49-1639-41A1-9C74-2742FD6DC550}">
      <dsp:nvSpPr>
        <dsp:cNvPr id="0" name=""/>
        <dsp:cNvSpPr/>
      </dsp:nvSpPr>
      <dsp:spPr>
        <a:xfrm>
          <a:off x="1096513" y="3044934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rial"/>
              <a:cs typeface="Arial"/>
            </a:rPr>
            <a:t>Detects heart-rate variability (HRV)</a:t>
          </a:r>
          <a:endParaRPr lang="en-GB" sz="1300" kern="1200" dirty="0"/>
        </a:p>
      </dsp:txBody>
      <dsp:txXfrm>
        <a:off x="1294390" y="3242811"/>
        <a:ext cx="955436" cy="955436"/>
      </dsp:txXfrm>
    </dsp:sp>
    <dsp:sp modelId="{FFCAEA36-1001-477C-B84A-D5084B92A1D5}">
      <dsp:nvSpPr>
        <dsp:cNvPr id="0" name=""/>
        <dsp:cNvSpPr/>
      </dsp:nvSpPr>
      <dsp:spPr>
        <a:xfrm rot="16200000">
          <a:off x="1592377" y="2487978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1646297" y="2633103"/>
        <a:ext cx="251624" cy="273616"/>
      </dsp:txXfrm>
    </dsp:sp>
    <dsp:sp modelId="{FD9BAA56-43BE-4EA6-AD01-4AC44798946D}">
      <dsp:nvSpPr>
        <dsp:cNvPr id="0" name=""/>
        <dsp:cNvSpPr/>
      </dsp:nvSpPr>
      <dsp:spPr>
        <a:xfrm>
          <a:off x="1096513" y="1015511"/>
          <a:ext cx="1351190" cy="13511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Calibri"/>
              <a:ea typeface="Calibri"/>
              <a:cs typeface="Calibri"/>
            </a:rPr>
            <a:t>Measures snoring intensity</a:t>
          </a:r>
          <a:endParaRPr lang="en-GB" sz="1300" kern="1200" dirty="0"/>
        </a:p>
      </dsp:txBody>
      <dsp:txXfrm>
        <a:off x="1294390" y="1213388"/>
        <a:ext cx="955436" cy="955436"/>
      </dsp:txXfrm>
    </dsp:sp>
    <dsp:sp modelId="{5441495B-84BA-4C2D-9892-DAAF761932D7}">
      <dsp:nvSpPr>
        <dsp:cNvPr id="0" name=""/>
        <dsp:cNvSpPr/>
      </dsp:nvSpPr>
      <dsp:spPr>
        <a:xfrm rot="19800000">
          <a:off x="2462332" y="960824"/>
          <a:ext cx="359463" cy="4560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469556" y="1078989"/>
        <a:ext cx="251624" cy="273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DDB1E-71F4-4E17-8542-053D45162881}">
      <dsp:nvSpPr>
        <dsp:cNvPr id="0" name=""/>
        <dsp:cNvSpPr/>
      </dsp:nvSpPr>
      <dsp:spPr>
        <a:xfrm>
          <a:off x="0" y="857954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Achievements / Results (Very Short)</a:t>
          </a:r>
          <a:endParaRPr lang="en-US" sz="1600" kern="1200"/>
        </a:p>
      </dsp:txBody>
      <dsp:txXfrm>
        <a:off x="0" y="857954"/>
        <a:ext cx="2366225" cy="1419735"/>
      </dsp:txXfrm>
    </dsp:sp>
    <dsp:sp modelId="{ED7D9269-AE8C-4B44-9480-75C02AF3BB10}">
      <dsp:nvSpPr>
        <dsp:cNvPr id="0" name=""/>
        <dsp:cNvSpPr/>
      </dsp:nvSpPr>
      <dsp:spPr>
        <a:xfrm>
          <a:off x="2602847" y="857954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Successfully built a </a:t>
          </a:r>
          <a:r>
            <a:rPr lang="en-US" sz="1600" b="1" kern="1200"/>
            <a:t>multi-sensor sleep tracking prototype</a:t>
          </a:r>
          <a:r>
            <a:rPr lang="en-US" sz="1600" kern="1200"/>
            <a:t> using MAX30102, MPU6050, and MAX4466.</a:t>
          </a:r>
        </a:p>
      </dsp:txBody>
      <dsp:txXfrm>
        <a:off x="2602847" y="857954"/>
        <a:ext cx="2366225" cy="1419735"/>
      </dsp:txXfrm>
    </dsp:sp>
    <dsp:sp modelId="{312A421C-BF6D-4A4C-B25E-412B74EC8369}">
      <dsp:nvSpPr>
        <dsp:cNvPr id="0" name=""/>
        <dsp:cNvSpPr/>
      </dsp:nvSpPr>
      <dsp:spPr>
        <a:xfrm>
          <a:off x="5205695" y="857954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Achieved </a:t>
          </a:r>
          <a:r>
            <a:rPr lang="en-US" sz="1600" b="1" kern="1200"/>
            <a:t>accurate heart-rate, movement, and sound detection</a:t>
          </a:r>
          <a:r>
            <a:rPr lang="en-US" sz="1600" kern="1200"/>
            <a:t> during sleep.</a:t>
          </a:r>
        </a:p>
      </dsp:txBody>
      <dsp:txXfrm>
        <a:off x="5205695" y="857954"/>
        <a:ext cx="2366225" cy="1419735"/>
      </dsp:txXfrm>
    </dsp:sp>
    <dsp:sp modelId="{58D2FEA1-EA3D-46CF-A694-697B5FB82C9B}">
      <dsp:nvSpPr>
        <dsp:cNvPr id="0" name=""/>
        <dsp:cNvSpPr/>
      </dsp:nvSpPr>
      <dsp:spPr>
        <a:xfrm>
          <a:off x="0" y="2514311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How the Solution Benefits Users / Society</a:t>
          </a:r>
          <a:endParaRPr lang="en-US" sz="1600" kern="1200"/>
        </a:p>
      </dsp:txBody>
      <dsp:txXfrm>
        <a:off x="0" y="2514311"/>
        <a:ext cx="2366225" cy="1419735"/>
      </dsp:txXfrm>
    </dsp:sp>
    <dsp:sp modelId="{F7E11C0B-5185-453C-A7B9-DBE97666D62D}">
      <dsp:nvSpPr>
        <dsp:cNvPr id="0" name=""/>
        <dsp:cNvSpPr/>
      </dsp:nvSpPr>
      <dsp:spPr>
        <a:xfrm>
          <a:off x="2602847" y="2514311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Helps users </a:t>
          </a:r>
          <a:r>
            <a:rPr lang="en-US" sz="1600" b="1" kern="1200"/>
            <a:t>understand their sleep quality</a:t>
          </a:r>
          <a:r>
            <a:rPr lang="en-US" sz="1600" kern="1200"/>
            <a:t> without expensive medical equipment.</a:t>
          </a:r>
        </a:p>
      </dsp:txBody>
      <dsp:txXfrm>
        <a:off x="2602847" y="2514311"/>
        <a:ext cx="2366225" cy="1419735"/>
      </dsp:txXfrm>
    </dsp:sp>
    <dsp:sp modelId="{BC2B406A-54FC-42B9-8C8F-925F1CF568F8}">
      <dsp:nvSpPr>
        <dsp:cNvPr id="0" name=""/>
        <dsp:cNvSpPr/>
      </dsp:nvSpPr>
      <dsp:spPr>
        <a:xfrm>
          <a:off x="5205695" y="2514311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Detects patterns related to </a:t>
          </a:r>
          <a:r>
            <a:rPr lang="en-US" sz="1600" b="1" kern="1200"/>
            <a:t>stress, poor sleep habits, or breathing issues</a:t>
          </a:r>
          <a:r>
            <a:rPr lang="en-US" sz="1600" kern="1200"/>
            <a:t>.</a:t>
          </a:r>
        </a:p>
      </dsp:txBody>
      <dsp:txXfrm>
        <a:off x="5205695" y="2514311"/>
        <a:ext cx="2366225" cy="1419735"/>
      </dsp:txXfrm>
    </dsp:sp>
    <dsp:sp modelId="{50A706A3-3B42-41E2-B1BC-C4DD11263D30}">
      <dsp:nvSpPr>
        <dsp:cNvPr id="0" name=""/>
        <dsp:cNvSpPr/>
      </dsp:nvSpPr>
      <dsp:spPr>
        <a:xfrm>
          <a:off x="0" y="4170669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Encourages better sleep routines with </a:t>
          </a:r>
          <a:r>
            <a:rPr lang="en-US" sz="1600" b="1" kern="1200"/>
            <a:t>data-driven insights</a:t>
          </a:r>
          <a:r>
            <a:rPr lang="en-US" sz="1600" kern="1200"/>
            <a:t>.</a:t>
          </a:r>
        </a:p>
      </dsp:txBody>
      <dsp:txXfrm>
        <a:off x="0" y="4170669"/>
        <a:ext cx="2366225" cy="1419735"/>
      </dsp:txXfrm>
    </dsp:sp>
    <dsp:sp modelId="{43B317DF-A29E-4EB5-9933-51CD0C45BA0C}">
      <dsp:nvSpPr>
        <dsp:cNvPr id="0" name=""/>
        <dsp:cNvSpPr/>
      </dsp:nvSpPr>
      <dsp:spPr>
        <a:xfrm>
          <a:off x="2602847" y="4170669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Comparison / Feedback</a:t>
          </a:r>
          <a:endParaRPr lang="en-US" sz="1600" kern="1200"/>
        </a:p>
      </dsp:txBody>
      <dsp:txXfrm>
        <a:off x="2602847" y="4170669"/>
        <a:ext cx="2366225" cy="1419735"/>
      </dsp:txXfrm>
    </dsp:sp>
    <dsp:sp modelId="{8FD6B64D-58FA-4923-842F-80413BC41FA0}">
      <dsp:nvSpPr>
        <dsp:cNvPr id="0" name=""/>
        <dsp:cNvSpPr/>
      </dsp:nvSpPr>
      <dsp:spPr>
        <a:xfrm>
          <a:off x="5205695" y="4170669"/>
          <a:ext cx="2366225" cy="141973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Compared to app-based trackers, this hardware model gives </a:t>
          </a:r>
          <a:r>
            <a:rPr lang="en-US" sz="1600" b="1" kern="1200"/>
            <a:t>more accurate physiological data</a:t>
          </a:r>
          <a:r>
            <a:rPr lang="en-US" sz="1600" kern="1200"/>
            <a:t> (real heart rate &amp; motion).</a:t>
          </a:r>
        </a:p>
      </dsp:txBody>
      <dsp:txXfrm>
        <a:off x="5205695" y="4170669"/>
        <a:ext cx="2366225" cy="1419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94" y="419689"/>
            <a:ext cx="10515600" cy="1560060"/>
          </a:xfrm>
        </p:spPr>
        <p:txBody>
          <a:bodyPr/>
          <a:lstStyle/>
          <a:p>
            <a:pPr algn="ctr"/>
            <a:r>
              <a:rPr lang="en-IN" altLang="en-US" sz="3200" b="1" u="sng" dirty="0">
                <a:solidFill>
                  <a:srgbClr val="002060"/>
                </a:solidFill>
                <a:latin typeface="Arial Nova"/>
                <a:cs typeface="Times New Roman"/>
              </a:rPr>
              <a:t>PROJECT X – 1.0</a:t>
            </a:r>
            <a:b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A406D"/>
                </a:solidFill>
                <a:latin typeface="Times New Roman"/>
                <a:ea typeface="Tahoma"/>
                <a:cs typeface="Times New Roman"/>
              </a:rPr>
              <a:t>Phase –II Review Presentation (20</a:t>
            </a:r>
            <a:r>
              <a:rPr lang="en-US" sz="2400" b="1" baseline="30000" dirty="0">
                <a:solidFill>
                  <a:srgbClr val="0A406D"/>
                </a:solidFill>
                <a:latin typeface="Times New Roman"/>
                <a:ea typeface="Tahoma"/>
                <a:cs typeface="Times New Roman"/>
              </a:rPr>
              <a:t>th</a:t>
            </a:r>
            <a:r>
              <a:rPr lang="en-US" sz="2400" b="1" dirty="0">
                <a:solidFill>
                  <a:srgbClr val="0A406D"/>
                </a:solidFill>
                <a:latin typeface="Times New Roman"/>
                <a:ea typeface="Tahoma"/>
                <a:cs typeface="Times New Roman"/>
              </a:rPr>
              <a:t> Nov 2025)</a:t>
            </a:r>
            <a:br>
              <a:rPr lang="en-US" sz="2400" b="1" dirty="0">
                <a:solidFill>
                  <a:srgbClr val="0A406D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A406D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A406D"/>
                </a:solidFill>
                <a:latin typeface="Times New Roman"/>
                <a:ea typeface="Tahoma"/>
                <a:cs typeface="Times New Roman"/>
              </a:rPr>
              <a:t>SLEEP PATTERN TRACKER</a:t>
            </a:r>
            <a:br>
              <a:rPr lang="en-US" sz="2400" b="1" dirty="0">
                <a:solidFill>
                  <a:srgbClr val="0A406D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>
              <a:solidFill>
                <a:srgbClr val="0A406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3827"/>
            <a:ext cx="10515600" cy="4661672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49000"/>
                  </a:schemeClr>
                </a:solidFill>
                <a:latin typeface="Arial Nova"/>
                <a:cs typeface="Times New Roman"/>
              </a:rPr>
              <a:t>TEAM NO.  113</a:t>
            </a:r>
            <a:endParaRPr lang="en-US" sz="2400" b="1">
              <a:solidFill>
                <a:schemeClr val="accent5">
                  <a:lumMod val="49000"/>
                </a:schemeClr>
              </a:solidFill>
              <a:latin typeface="Arial Nova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48E813DD-526E-5E9C-EE87-52B7D914B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141" y="2851122"/>
            <a:ext cx="5321552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68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520" y="20069"/>
            <a:ext cx="6604959" cy="981828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PROJECT BRIEF SUMMARY</a:t>
            </a:r>
            <a:endParaRPr lang="en-US" sz="3600" b="1" dirty="0">
              <a:solidFill>
                <a:schemeClr val="accent5">
                  <a:lumMod val="49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0D0D7-DD82-2B0E-2814-AC647FCE4BD5}"/>
              </a:ext>
            </a:extLst>
          </p:cNvPr>
          <p:cNvSpPr/>
          <p:nvPr/>
        </p:nvSpPr>
        <p:spPr>
          <a:xfrm>
            <a:off x="396446" y="908449"/>
            <a:ext cx="11408070" cy="959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dist="38100" dir="2700000">
              <a:srgbClr val="9CC3E5">
                <a:alpha val="78000"/>
              </a:srgbClr>
            </a:outerShdw>
            <a:reflection stA="85000" endPos="14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CE6AD8-00FC-C8FA-4939-510EE4C67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134675"/>
              </p:ext>
            </p:extLst>
          </p:nvPr>
        </p:nvGraphicFramePr>
        <p:xfrm>
          <a:off x="662572" y="906277"/>
          <a:ext cx="11866880" cy="868090"/>
        </p:xfrm>
        <a:graphic>
          <a:graphicData uri="http://schemas.openxmlformats.org/drawingml/2006/table">
            <a:tbl>
              <a:tblPr/>
              <a:tblGrid>
                <a:gridCol w="11866880">
                  <a:extLst>
                    <a:ext uri="{9D8B030D-6E8A-4147-A177-3AD203B41FA5}">
                      <a16:colId xmlns:a16="http://schemas.microsoft.com/office/drawing/2014/main" val="1685520978"/>
                    </a:ext>
                  </a:extLst>
                </a:gridCol>
              </a:tblGrid>
              <a:tr h="86809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dirty="0">
                          <a:solidFill>
                            <a:schemeClr val="accent5">
                              <a:lumMod val="49000"/>
                            </a:schemeClr>
                          </a:solidFill>
                          <a:latin typeface="Arial"/>
                          <a:cs typeface="Times New Roman"/>
                        </a:rPr>
                        <a:t>PROJECT’S PURPOSE – A SLEEP PATTERN TRACKER FOR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9650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8774EF-97D5-7113-52C1-50B0BB1D5664}"/>
              </a:ext>
            </a:extLst>
          </p:cNvPr>
          <p:cNvSpPr txBox="1"/>
          <p:nvPr/>
        </p:nvSpPr>
        <p:spPr>
          <a:xfrm>
            <a:off x="1322719" y="2724509"/>
            <a:ext cx="450011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Segoe UI"/>
              </a:rPr>
              <a:t>WHY THIS PROJECT?</a:t>
            </a:r>
          </a:p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E7BDE-150F-BEF1-8CED-34F4C494748F}"/>
              </a:ext>
            </a:extLst>
          </p:cNvPr>
          <p:cNvSpPr txBox="1"/>
          <p:nvPr/>
        </p:nvSpPr>
        <p:spPr>
          <a:xfrm>
            <a:off x="1322717" y="3429000"/>
            <a:ext cx="56503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Garamond"/>
                <a:cs typeface="Arial"/>
              </a:rPr>
              <a:t>Lead to:</a:t>
            </a:r>
            <a:endParaRPr lang="en-US" sz="2400" dirty="0">
              <a:latin typeface="Garamond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Garamond"/>
                <a:cs typeface="Arial"/>
              </a:rPr>
              <a:t>Reduced concentration &amp; memory</a:t>
            </a:r>
            <a:endParaRPr lang="en-US"/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Garamond"/>
                <a:cs typeface="Arial"/>
              </a:rPr>
              <a:t>Lower academic performance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Garamond"/>
                <a:cs typeface="Arial"/>
              </a:rPr>
              <a:t>Stress, fatigue, and mood problems</a:t>
            </a:r>
          </a:p>
          <a:p>
            <a:pPr algn="ctr"/>
            <a:endParaRPr lang="en-GB" sz="2400" dirty="0">
              <a:latin typeface="Garamond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E604531-A9FB-4448-F77F-1B8E4F780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1038034"/>
              </p:ext>
            </p:extLst>
          </p:nvPr>
        </p:nvGraphicFramePr>
        <p:xfrm>
          <a:off x="5624286" y="1863726"/>
          <a:ext cx="7547428" cy="4436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562C267-60F6-1D65-0206-FA1FDC818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36248"/>
              </p:ext>
            </p:extLst>
          </p:nvPr>
        </p:nvGraphicFramePr>
        <p:xfrm>
          <a:off x="-1584476" y="6071809"/>
          <a:ext cx="5161048" cy="22425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61048">
                  <a:extLst>
                    <a:ext uri="{9D8B030D-6E8A-4147-A177-3AD203B41FA5}">
                      <a16:colId xmlns:a16="http://schemas.microsoft.com/office/drawing/2014/main" val="1623365896"/>
                    </a:ext>
                  </a:extLst>
                </a:gridCol>
              </a:tblGrid>
              <a:tr h="746909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GB" sz="1800" dirty="0">
                        <a:effectLst/>
                        <a:latin typeface="Times New Roman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743590"/>
                  </a:ext>
                </a:extLst>
              </a:tr>
              <a:tr h="836538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GB" sz="1800" dirty="0">
                        <a:effectLst/>
                        <a:latin typeface="Times New Roman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342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GB" sz="1800" dirty="0">
                        <a:effectLst/>
                        <a:latin typeface="Times New Roman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112442"/>
                  </a:ext>
                </a:extLst>
              </a:tr>
              <a:tr h="20913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GB" sz="1800" dirty="0">
                        <a:effectLst/>
                        <a:latin typeface="Times New Roman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2881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8C7BA90-001B-9F6A-C82A-C998D478D34C}"/>
              </a:ext>
            </a:extLst>
          </p:cNvPr>
          <p:cNvSpPr txBox="1"/>
          <p:nvPr/>
        </p:nvSpPr>
        <p:spPr>
          <a:xfrm>
            <a:off x="9569603" y="3743027"/>
            <a:ext cx="198719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latin typeface="Times New Roman"/>
                <a:ea typeface="Calibri"/>
                <a:cs typeface="Arial"/>
              </a:rPr>
              <a:t>           40%</a:t>
            </a:r>
          </a:p>
          <a:p>
            <a:r>
              <a:rPr lang="en-GB" sz="2000" b="1" dirty="0">
                <a:latin typeface="Times New Roman"/>
                <a:ea typeface="Calibri"/>
                <a:cs typeface="Arial"/>
              </a:rPr>
              <a:t>Academic stress</a:t>
            </a:r>
            <a:endParaRPr lang="en-GB" dirty="0"/>
          </a:p>
          <a:p>
            <a:endParaRPr lang="en-GB" dirty="0">
              <a:ea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78A4A-72FB-68D3-D9C6-905244E0528B}"/>
              </a:ext>
            </a:extLst>
          </p:cNvPr>
          <p:cNvSpPr txBox="1"/>
          <p:nvPr/>
        </p:nvSpPr>
        <p:spPr>
          <a:xfrm>
            <a:off x="8067524" y="4735285"/>
            <a:ext cx="3011715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latin typeface="Times New Roman"/>
                <a:ea typeface="Segoe UI"/>
                <a:cs typeface="Segoe UI"/>
              </a:rPr>
              <a:t>           30</a:t>
            </a:r>
            <a:r>
              <a:rPr lang="en-GB" sz="2000" b="1" baseline="0" dirty="0">
                <a:latin typeface="Times New Roman"/>
                <a:ea typeface="Segoe UI"/>
                <a:cs typeface="Segoe UI"/>
              </a:rPr>
              <a:t>%</a:t>
            </a:r>
            <a:r>
              <a:rPr lang="en-GB" sz="2000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en-GB" sz="2000" b="1" dirty="0">
                <a:latin typeface="Times New Roman"/>
                <a:ea typeface="Segoe UI"/>
                <a:cs typeface="Segoe UI"/>
              </a:rPr>
              <a:t>Late Night Phone </a:t>
            </a:r>
            <a:endParaRPr lang="en-GB" sz="2000" b="1" baseline="0" dirty="0">
              <a:latin typeface="Times New Roman"/>
              <a:ea typeface="Segoe UI"/>
              <a:cs typeface="Segoe UI"/>
            </a:endParaRPr>
          </a:p>
          <a:p>
            <a:r>
              <a:rPr lang="en-GB" sz="2000" b="1" dirty="0">
                <a:latin typeface="Times New Roman"/>
                <a:cs typeface="Segoe UI"/>
              </a:rPr>
              <a:t>          Use</a:t>
            </a:r>
          </a:p>
          <a:p>
            <a:pPr algn="ctr"/>
            <a:endParaRPr lang="en-GB">
              <a:ea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6466BC-E10C-AA60-581D-2B60A6607CFD}"/>
              </a:ext>
            </a:extLst>
          </p:cNvPr>
          <p:cNvSpPr txBox="1"/>
          <p:nvPr/>
        </p:nvSpPr>
        <p:spPr>
          <a:xfrm>
            <a:off x="7293428" y="3215833"/>
            <a:ext cx="210457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latin typeface="Times New Roman"/>
                <a:ea typeface="Segoe UI"/>
                <a:cs typeface="Segoe UI"/>
              </a:rPr>
              <a:t>         20</a:t>
            </a:r>
            <a:r>
              <a:rPr lang="en-GB" sz="2000" b="1" baseline="0" dirty="0">
                <a:latin typeface="Times New Roman"/>
                <a:ea typeface="Segoe UI"/>
                <a:cs typeface="Segoe UI"/>
              </a:rPr>
              <a:t>%</a:t>
            </a:r>
            <a:r>
              <a:rPr lang="en-GB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en-GB" sz="2000" b="1" dirty="0">
                <a:latin typeface="Times New Roman"/>
                <a:ea typeface="Calibri"/>
                <a:cs typeface="Segoe UI"/>
              </a:rPr>
              <a:t>Irregular Sleep </a:t>
            </a:r>
          </a:p>
          <a:p>
            <a:r>
              <a:rPr lang="en-GB" sz="2000" b="1" dirty="0">
                <a:latin typeface="Times New Roman"/>
                <a:ea typeface="Calibri"/>
                <a:cs typeface="Segoe UI"/>
              </a:rPr>
              <a:t>      Schedule</a:t>
            </a:r>
            <a:endParaRPr lang="en-GB" sz="2000" b="1">
              <a:latin typeface="Times New Roman"/>
              <a:ea typeface="Calibri" panose="020F0502020204030204" pitchFamily="34" charset="0"/>
              <a:cs typeface="Segoe UI"/>
            </a:endParaRPr>
          </a:p>
          <a:p>
            <a:endParaRPr lang="en-GB" sz="2000" b="1" dirty="0">
              <a:latin typeface="Times New Roman"/>
              <a:ea typeface="Calibri" panose="020F0502020204030204" pitchFamily="34" charset="0"/>
              <a:cs typeface="Segoe UI"/>
            </a:endParaRPr>
          </a:p>
          <a:p>
            <a:pPr algn="ctr"/>
            <a:endParaRPr lang="en-GB">
              <a:ea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082F7F-C6FF-82EF-706F-E371AE633522}"/>
              </a:ext>
            </a:extLst>
          </p:cNvPr>
          <p:cNvSpPr txBox="1"/>
          <p:nvPr/>
        </p:nvSpPr>
        <p:spPr>
          <a:xfrm>
            <a:off x="7777238" y="2425095"/>
            <a:ext cx="278190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GB" sz="2000" b="1" baseline="0" dirty="0">
                <a:latin typeface="Times New Roman"/>
                <a:ea typeface="Segoe UI"/>
                <a:cs typeface="Segoe UI"/>
              </a:rPr>
              <a:t> </a:t>
            </a:r>
            <a:r>
              <a:rPr lang="en-GB" sz="2000" b="1" dirty="0">
                <a:latin typeface="Times New Roman"/>
                <a:ea typeface="Segoe UI"/>
                <a:cs typeface="Segoe UI"/>
              </a:rPr>
              <a:t>10</a:t>
            </a:r>
            <a:r>
              <a:rPr lang="en-GB" sz="2000" b="1" baseline="0" dirty="0">
                <a:latin typeface="Times New Roman"/>
                <a:ea typeface="Segoe UI"/>
                <a:cs typeface="Segoe UI"/>
              </a:rPr>
              <a:t>%</a:t>
            </a:r>
            <a:r>
              <a:rPr lang="en-US" sz="2000" dirty="0">
                <a:latin typeface="Times New Roman"/>
                <a:ea typeface="Segoe UI"/>
                <a:cs typeface="Segoe UI"/>
              </a:rPr>
              <a:t>​</a:t>
            </a:r>
            <a:endParaRPr lang="en-US" dirty="0"/>
          </a:p>
          <a:p>
            <a:pPr algn="ctr"/>
            <a:r>
              <a:rPr lang="en-GB" sz="2000" b="1" dirty="0">
                <a:latin typeface="Times New Roman"/>
                <a:ea typeface="Segoe UI"/>
                <a:cs typeface="Segoe UI"/>
              </a:rPr>
              <a:t>Mental Issues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F00A-A7D3-88AB-D668-CEAB8AFC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1339" y="2917583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87EC1-080A-D8CC-5676-399E9030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3052C4-522B-7180-DEF3-992E084FDA67}"/>
              </a:ext>
            </a:extLst>
          </p:cNvPr>
          <p:cNvSpPr/>
          <p:nvPr/>
        </p:nvSpPr>
        <p:spPr>
          <a:xfrm>
            <a:off x="3296474" y="249958"/>
            <a:ext cx="5597199" cy="1005211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597199"/>
                      <a:gd name="csY0" fmla="*/ 167539 h 1005211"/>
                      <a:gd name="csX1" fmla="*/ 167539 w 5597199"/>
                      <a:gd name="csY1" fmla="*/ 0 h 1005211"/>
                      <a:gd name="csX2" fmla="*/ 5429660 w 5597199"/>
                      <a:gd name="csY2" fmla="*/ 0 h 1005211"/>
                      <a:gd name="csX3" fmla="*/ 5597199 w 5597199"/>
                      <a:gd name="csY3" fmla="*/ 167539 h 1005211"/>
                      <a:gd name="csX4" fmla="*/ 5597199 w 5597199"/>
                      <a:gd name="csY4" fmla="*/ 837672 h 1005211"/>
                      <a:gd name="csX5" fmla="*/ 5429660 w 5597199"/>
                      <a:gd name="csY5" fmla="*/ 1005211 h 1005211"/>
                      <a:gd name="csX6" fmla="*/ 167539 w 5597199"/>
                      <a:gd name="csY6" fmla="*/ 1005211 h 1005211"/>
                      <a:gd name="csX7" fmla="*/ 0 w 5597199"/>
                      <a:gd name="csY7" fmla="*/ 837672 h 1005211"/>
                      <a:gd name="csX8" fmla="*/ 0 w 5597199"/>
                      <a:gd name="csY8" fmla="*/ 167539 h 10052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97199" h="1005211" extrusionOk="0">
                        <a:moveTo>
                          <a:pt x="0" y="167539"/>
                        </a:moveTo>
                        <a:cubicBezTo>
                          <a:pt x="-5521" y="57679"/>
                          <a:pt x="66075" y="769"/>
                          <a:pt x="167539" y="0"/>
                        </a:cubicBezTo>
                        <a:cubicBezTo>
                          <a:pt x="1748851" y="52825"/>
                          <a:pt x="3729429" y="-123174"/>
                          <a:pt x="5429660" y="0"/>
                        </a:cubicBezTo>
                        <a:cubicBezTo>
                          <a:pt x="5523915" y="2918"/>
                          <a:pt x="5602937" y="76557"/>
                          <a:pt x="5597199" y="167539"/>
                        </a:cubicBezTo>
                        <a:cubicBezTo>
                          <a:pt x="5616864" y="497293"/>
                          <a:pt x="5622885" y="590650"/>
                          <a:pt x="5597199" y="837672"/>
                        </a:cubicBezTo>
                        <a:cubicBezTo>
                          <a:pt x="5593386" y="925300"/>
                          <a:pt x="5516049" y="999712"/>
                          <a:pt x="5429660" y="1005211"/>
                        </a:cubicBezTo>
                        <a:cubicBezTo>
                          <a:pt x="3242300" y="1174622"/>
                          <a:pt x="2545012" y="1090765"/>
                          <a:pt x="167539" y="1005211"/>
                        </a:cubicBezTo>
                        <a:cubicBezTo>
                          <a:pt x="69610" y="1007454"/>
                          <a:pt x="4293" y="921641"/>
                          <a:pt x="0" y="837672"/>
                        </a:cubicBezTo>
                        <a:cubicBezTo>
                          <a:pt x="2410" y="641319"/>
                          <a:pt x="-23989" y="388176"/>
                          <a:pt x="0" y="16753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D3ABF-72CF-56DC-BCBE-DF5A5109CBD6}"/>
              </a:ext>
            </a:extLst>
          </p:cNvPr>
          <p:cNvSpPr txBox="1"/>
          <p:nvPr/>
        </p:nvSpPr>
        <p:spPr>
          <a:xfrm>
            <a:off x="4281714" y="393095"/>
            <a:ext cx="411238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baseline="0" dirty="0">
                <a:solidFill>
                  <a:schemeClr val="accent1">
                    <a:lumMod val="49000"/>
                  </a:schemeClr>
                </a:solidFill>
                <a:latin typeface="Garamond"/>
                <a:cs typeface="Arial"/>
              </a:rPr>
              <a:t>MAJOR UPDATES</a:t>
            </a:r>
            <a:endParaRPr lang="en-GB" sz="3200" dirty="0">
              <a:solidFill>
                <a:schemeClr val="accent1">
                  <a:lumMod val="49000"/>
                </a:schemeClr>
              </a:solidFill>
              <a:latin typeface="Garamond"/>
              <a:cs typeface="Arial"/>
            </a:endParaRPr>
          </a:p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8A3D30-343D-B116-3F0D-EA7A1FC05A15}"/>
              </a:ext>
            </a:extLst>
          </p:cNvPr>
          <p:cNvCxnSpPr/>
          <p:nvPr/>
        </p:nvCxnSpPr>
        <p:spPr>
          <a:xfrm>
            <a:off x="5974878" y="1275318"/>
            <a:ext cx="57786" cy="427361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AB54EA-9EB2-5576-F093-3B4D0BFA00EF}"/>
              </a:ext>
            </a:extLst>
          </p:cNvPr>
          <p:cNvCxnSpPr/>
          <p:nvPr/>
        </p:nvCxnSpPr>
        <p:spPr>
          <a:xfrm flipV="1">
            <a:off x="5997671" y="2031937"/>
            <a:ext cx="1053607" cy="133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E066B0-5D40-1236-CA4B-2735A925CB29}"/>
              </a:ext>
            </a:extLst>
          </p:cNvPr>
          <p:cNvCxnSpPr>
            <a:cxnSpLocks/>
          </p:cNvCxnSpPr>
          <p:nvPr/>
        </p:nvCxnSpPr>
        <p:spPr>
          <a:xfrm flipV="1">
            <a:off x="4957479" y="2854413"/>
            <a:ext cx="1053607" cy="133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000207-7E59-1CA6-4A55-67B4D4F48829}"/>
              </a:ext>
            </a:extLst>
          </p:cNvPr>
          <p:cNvCxnSpPr>
            <a:cxnSpLocks/>
          </p:cNvCxnSpPr>
          <p:nvPr/>
        </p:nvCxnSpPr>
        <p:spPr>
          <a:xfrm flipV="1">
            <a:off x="6009765" y="3688984"/>
            <a:ext cx="1053607" cy="133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1F5B5A-A75A-089A-EB56-3A39C77067DB}"/>
              </a:ext>
            </a:extLst>
          </p:cNvPr>
          <p:cNvCxnSpPr>
            <a:cxnSpLocks/>
          </p:cNvCxnSpPr>
          <p:nvPr/>
        </p:nvCxnSpPr>
        <p:spPr>
          <a:xfrm flipV="1">
            <a:off x="5042147" y="4644508"/>
            <a:ext cx="1053607" cy="133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7A522D-C97E-C690-95F2-1C4A7736436F}"/>
              </a:ext>
            </a:extLst>
          </p:cNvPr>
          <p:cNvSpPr/>
          <p:nvPr/>
        </p:nvSpPr>
        <p:spPr>
          <a:xfrm>
            <a:off x="7070189" y="1653005"/>
            <a:ext cx="3250722" cy="944735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597199"/>
                      <a:gd name="csY0" fmla="*/ 167539 h 1005211"/>
                      <a:gd name="csX1" fmla="*/ 167539 w 5597199"/>
                      <a:gd name="csY1" fmla="*/ 0 h 1005211"/>
                      <a:gd name="csX2" fmla="*/ 5429660 w 5597199"/>
                      <a:gd name="csY2" fmla="*/ 0 h 1005211"/>
                      <a:gd name="csX3" fmla="*/ 5597199 w 5597199"/>
                      <a:gd name="csY3" fmla="*/ 167539 h 1005211"/>
                      <a:gd name="csX4" fmla="*/ 5597199 w 5597199"/>
                      <a:gd name="csY4" fmla="*/ 837672 h 1005211"/>
                      <a:gd name="csX5" fmla="*/ 5429660 w 5597199"/>
                      <a:gd name="csY5" fmla="*/ 1005211 h 1005211"/>
                      <a:gd name="csX6" fmla="*/ 167539 w 5597199"/>
                      <a:gd name="csY6" fmla="*/ 1005211 h 1005211"/>
                      <a:gd name="csX7" fmla="*/ 0 w 5597199"/>
                      <a:gd name="csY7" fmla="*/ 837672 h 1005211"/>
                      <a:gd name="csX8" fmla="*/ 0 w 5597199"/>
                      <a:gd name="csY8" fmla="*/ 167539 h 10052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97199" h="1005211" extrusionOk="0">
                        <a:moveTo>
                          <a:pt x="0" y="167539"/>
                        </a:moveTo>
                        <a:cubicBezTo>
                          <a:pt x="-5521" y="57679"/>
                          <a:pt x="66075" y="769"/>
                          <a:pt x="167539" y="0"/>
                        </a:cubicBezTo>
                        <a:cubicBezTo>
                          <a:pt x="1748851" y="52825"/>
                          <a:pt x="3729429" y="-123174"/>
                          <a:pt x="5429660" y="0"/>
                        </a:cubicBezTo>
                        <a:cubicBezTo>
                          <a:pt x="5523915" y="2918"/>
                          <a:pt x="5602937" y="76557"/>
                          <a:pt x="5597199" y="167539"/>
                        </a:cubicBezTo>
                        <a:cubicBezTo>
                          <a:pt x="5616864" y="497293"/>
                          <a:pt x="5622885" y="590650"/>
                          <a:pt x="5597199" y="837672"/>
                        </a:cubicBezTo>
                        <a:cubicBezTo>
                          <a:pt x="5593386" y="925300"/>
                          <a:pt x="5516049" y="999712"/>
                          <a:pt x="5429660" y="1005211"/>
                        </a:cubicBezTo>
                        <a:cubicBezTo>
                          <a:pt x="3242300" y="1174622"/>
                          <a:pt x="2545012" y="1090765"/>
                          <a:pt x="167539" y="1005211"/>
                        </a:cubicBezTo>
                        <a:cubicBezTo>
                          <a:pt x="69610" y="1007454"/>
                          <a:pt x="4293" y="921641"/>
                          <a:pt x="0" y="837672"/>
                        </a:cubicBezTo>
                        <a:cubicBezTo>
                          <a:pt x="2410" y="641319"/>
                          <a:pt x="-23989" y="388176"/>
                          <a:pt x="0" y="16753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D4C17E-364A-5982-F10E-BD3AAE14C747}"/>
              </a:ext>
            </a:extLst>
          </p:cNvPr>
          <p:cNvSpPr/>
          <p:nvPr/>
        </p:nvSpPr>
        <p:spPr>
          <a:xfrm>
            <a:off x="1893426" y="2427100"/>
            <a:ext cx="3069294" cy="1005211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597199"/>
                      <a:gd name="csY0" fmla="*/ 167539 h 1005211"/>
                      <a:gd name="csX1" fmla="*/ 167539 w 5597199"/>
                      <a:gd name="csY1" fmla="*/ 0 h 1005211"/>
                      <a:gd name="csX2" fmla="*/ 5429660 w 5597199"/>
                      <a:gd name="csY2" fmla="*/ 0 h 1005211"/>
                      <a:gd name="csX3" fmla="*/ 5597199 w 5597199"/>
                      <a:gd name="csY3" fmla="*/ 167539 h 1005211"/>
                      <a:gd name="csX4" fmla="*/ 5597199 w 5597199"/>
                      <a:gd name="csY4" fmla="*/ 837672 h 1005211"/>
                      <a:gd name="csX5" fmla="*/ 5429660 w 5597199"/>
                      <a:gd name="csY5" fmla="*/ 1005211 h 1005211"/>
                      <a:gd name="csX6" fmla="*/ 167539 w 5597199"/>
                      <a:gd name="csY6" fmla="*/ 1005211 h 1005211"/>
                      <a:gd name="csX7" fmla="*/ 0 w 5597199"/>
                      <a:gd name="csY7" fmla="*/ 837672 h 1005211"/>
                      <a:gd name="csX8" fmla="*/ 0 w 5597199"/>
                      <a:gd name="csY8" fmla="*/ 167539 h 10052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97199" h="1005211" extrusionOk="0">
                        <a:moveTo>
                          <a:pt x="0" y="167539"/>
                        </a:moveTo>
                        <a:cubicBezTo>
                          <a:pt x="-5521" y="57679"/>
                          <a:pt x="66075" y="769"/>
                          <a:pt x="167539" y="0"/>
                        </a:cubicBezTo>
                        <a:cubicBezTo>
                          <a:pt x="1748851" y="52825"/>
                          <a:pt x="3729429" y="-123174"/>
                          <a:pt x="5429660" y="0"/>
                        </a:cubicBezTo>
                        <a:cubicBezTo>
                          <a:pt x="5523915" y="2918"/>
                          <a:pt x="5602937" y="76557"/>
                          <a:pt x="5597199" y="167539"/>
                        </a:cubicBezTo>
                        <a:cubicBezTo>
                          <a:pt x="5616864" y="497293"/>
                          <a:pt x="5622885" y="590650"/>
                          <a:pt x="5597199" y="837672"/>
                        </a:cubicBezTo>
                        <a:cubicBezTo>
                          <a:pt x="5593386" y="925300"/>
                          <a:pt x="5516049" y="999712"/>
                          <a:pt x="5429660" y="1005211"/>
                        </a:cubicBezTo>
                        <a:cubicBezTo>
                          <a:pt x="3242300" y="1174622"/>
                          <a:pt x="2545012" y="1090765"/>
                          <a:pt x="167539" y="1005211"/>
                        </a:cubicBezTo>
                        <a:cubicBezTo>
                          <a:pt x="69610" y="1007454"/>
                          <a:pt x="4293" y="921641"/>
                          <a:pt x="0" y="837672"/>
                        </a:cubicBezTo>
                        <a:cubicBezTo>
                          <a:pt x="2410" y="641319"/>
                          <a:pt x="-23989" y="388176"/>
                          <a:pt x="0" y="16753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00BC72-9F41-46CA-C2C6-A32E071C3A46}"/>
              </a:ext>
            </a:extLst>
          </p:cNvPr>
          <p:cNvSpPr/>
          <p:nvPr/>
        </p:nvSpPr>
        <p:spPr>
          <a:xfrm>
            <a:off x="7082283" y="3189100"/>
            <a:ext cx="3069294" cy="1005211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597199"/>
                      <a:gd name="csY0" fmla="*/ 167539 h 1005211"/>
                      <a:gd name="csX1" fmla="*/ 167539 w 5597199"/>
                      <a:gd name="csY1" fmla="*/ 0 h 1005211"/>
                      <a:gd name="csX2" fmla="*/ 5429660 w 5597199"/>
                      <a:gd name="csY2" fmla="*/ 0 h 1005211"/>
                      <a:gd name="csX3" fmla="*/ 5597199 w 5597199"/>
                      <a:gd name="csY3" fmla="*/ 167539 h 1005211"/>
                      <a:gd name="csX4" fmla="*/ 5597199 w 5597199"/>
                      <a:gd name="csY4" fmla="*/ 837672 h 1005211"/>
                      <a:gd name="csX5" fmla="*/ 5429660 w 5597199"/>
                      <a:gd name="csY5" fmla="*/ 1005211 h 1005211"/>
                      <a:gd name="csX6" fmla="*/ 167539 w 5597199"/>
                      <a:gd name="csY6" fmla="*/ 1005211 h 1005211"/>
                      <a:gd name="csX7" fmla="*/ 0 w 5597199"/>
                      <a:gd name="csY7" fmla="*/ 837672 h 1005211"/>
                      <a:gd name="csX8" fmla="*/ 0 w 5597199"/>
                      <a:gd name="csY8" fmla="*/ 167539 h 10052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97199" h="1005211" extrusionOk="0">
                        <a:moveTo>
                          <a:pt x="0" y="167539"/>
                        </a:moveTo>
                        <a:cubicBezTo>
                          <a:pt x="-5521" y="57679"/>
                          <a:pt x="66075" y="769"/>
                          <a:pt x="167539" y="0"/>
                        </a:cubicBezTo>
                        <a:cubicBezTo>
                          <a:pt x="1748851" y="52825"/>
                          <a:pt x="3729429" y="-123174"/>
                          <a:pt x="5429660" y="0"/>
                        </a:cubicBezTo>
                        <a:cubicBezTo>
                          <a:pt x="5523915" y="2918"/>
                          <a:pt x="5602937" y="76557"/>
                          <a:pt x="5597199" y="167539"/>
                        </a:cubicBezTo>
                        <a:cubicBezTo>
                          <a:pt x="5616864" y="497293"/>
                          <a:pt x="5622885" y="590650"/>
                          <a:pt x="5597199" y="837672"/>
                        </a:cubicBezTo>
                        <a:cubicBezTo>
                          <a:pt x="5593386" y="925300"/>
                          <a:pt x="5516049" y="999712"/>
                          <a:pt x="5429660" y="1005211"/>
                        </a:cubicBezTo>
                        <a:cubicBezTo>
                          <a:pt x="3242300" y="1174622"/>
                          <a:pt x="2545012" y="1090765"/>
                          <a:pt x="167539" y="1005211"/>
                        </a:cubicBezTo>
                        <a:cubicBezTo>
                          <a:pt x="69610" y="1007454"/>
                          <a:pt x="4293" y="921641"/>
                          <a:pt x="0" y="837672"/>
                        </a:cubicBezTo>
                        <a:cubicBezTo>
                          <a:pt x="2410" y="641319"/>
                          <a:pt x="-23989" y="388176"/>
                          <a:pt x="0" y="16753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290213-3F4D-CF7C-DC6A-49A157310D3A}"/>
              </a:ext>
            </a:extLst>
          </p:cNvPr>
          <p:cNvSpPr/>
          <p:nvPr/>
        </p:nvSpPr>
        <p:spPr>
          <a:xfrm>
            <a:off x="1978093" y="4205100"/>
            <a:ext cx="3069294" cy="1005211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5597199"/>
                      <a:gd name="csY0" fmla="*/ 167539 h 1005211"/>
                      <a:gd name="csX1" fmla="*/ 167539 w 5597199"/>
                      <a:gd name="csY1" fmla="*/ 0 h 1005211"/>
                      <a:gd name="csX2" fmla="*/ 5429660 w 5597199"/>
                      <a:gd name="csY2" fmla="*/ 0 h 1005211"/>
                      <a:gd name="csX3" fmla="*/ 5597199 w 5597199"/>
                      <a:gd name="csY3" fmla="*/ 167539 h 1005211"/>
                      <a:gd name="csX4" fmla="*/ 5597199 w 5597199"/>
                      <a:gd name="csY4" fmla="*/ 837672 h 1005211"/>
                      <a:gd name="csX5" fmla="*/ 5429660 w 5597199"/>
                      <a:gd name="csY5" fmla="*/ 1005211 h 1005211"/>
                      <a:gd name="csX6" fmla="*/ 167539 w 5597199"/>
                      <a:gd name="csY6" fmla="*/ 1005211 h 1005211"/>
                      <a:gd name="csX7" fmla="*/ 0 w 5597199"/>
                      <a:gd name="csY7" fmla="*/ 837672 h 1005211"/>
                      <a:gd name="csX8" fmla="*/ 0 w 5597199"/>
                      <a:gd name="csY8" fmla="*/ 167539 h 10052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97199" h="1005211" extrusionOk="0">
                        <a:moveTo>
                          <a:pt x="0" y="167539"/>
                        </a:moveTo>
                        <a:cubicBezTo>
                          <a:pt x="-5521" y="57679"/>
                          <a:pt x="66075" y="769"/>
                          <a:pt x="167539" y="0"/>
                        </a:cubicBezTo>
                        <a:cubicBezTo>
                          <a:pt x="1748851" y="52825"/>
                          <a:pt x="3729429" y="-123174"/>
                          <a:pt x="5429660" y="0"/>
                        </a:cubicBezTo>
                        <a:cubicBezTo>
                          <a:pt x="5523915" y="2918"/>
                          <a:pt x="5602937" y="76557"/>
                          <a:pt x="5597199" y="167539"/>
                        </a:cubicBezTo>
                        <a:cubicBezTo>
                          <a:pt x="5616864" y="497293"/>
                          <a:pt x="5622885" y="590650"/>
                          <a:pt x="5597199" y="837672"/>
                        </a:cubicBezTo>
                        <a:cubicBezTo>
                          <a:pt x="5593386" y="925300"/>
                          <a:pt x="5516049" y="999712"/>
                          <a:pt x="5429660" y="1005211"/>
                        </a:cubicBezTo>
                        <a:cubicBezTo>
                          <a:pt x="3242300" y="1174622"/>
                          <a:pt x="2545012" y="1090765"/>
                          <a:pt x="167539" y="1005211"/>
                        </a:cubicBezTo>
                        <a:cubicBezTo>
                          <a:pt x="69610" y="1007454"/>
                          <a:pt x="4293" y="921641"/>
                          <a:pt x="0" y="837672"/>
                        </a:cubicBezTo>
                        <a:cubicBezTo>
                          <a:pt x="2410" y="641319"/>
                          <a:pt x="-23989" y="388176"/>
                          <a:pt x="0" y="16753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4C206-26A4-6279-BD71-0BA80553598E}"/>
              </a:ext>
            </a:extLst>
          </p:cNvPr>
          <p:cNvSpPr txBox="1"/>
          <p:nvPr/>
        </p:nvSpPr>
        <p:spPr>
          <a:xfrm>
            <a:off x="7044533" y="1790027"/>
            <a:ext cx="32562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latin typeface="Calibri"/>
                <a:ea typeface="Calibri"/>
                <a:cs typeface="Arial"/>
              </a:rPr>
              <a:t>Integrated sensors for sound ,motion and heartrate detection </a:t>
            </a:r>
            <a:endParaRPr lang="en-GB" b="1" dirty="0">
              <a:ea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0B08E6-F5D0-7381-9636-3C8FDF3220FA}"/>
              </a:ext>
            </a:extLst>
          </p:cNvPr>
          <p:cNvSpPr txBox="1"/>
          <p:nvPr/>
        </p:nvSpPr>
        <p:spPr>
          <a:xfrm>
            <a:off x="1998327" y="2604410"/>
            <a:ext cx="30022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latin typeface="Calibri"/>
                <a:ea typeface="Calibri"/>
                <a:cs typeface="Arial"/>
              </a:rPr>
              <a:t>Optimal code performance for faster data processing</a:t>
            </a:r>
            <a:endParaRPr lang="en-GB" b="1">
              <a:ea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0DD06E-6654-EA4D-8943-5E16EF512036}"/>
              </a:ext>
            </a:extLst>
          </p:cNvPr>
          <p:cNvSpPr txBox="1"/>
          <p:nvPr/>
        </p:nvSpPr>
        <p:spPr>
          <a:xfrm>
            <a:off x="7376482" y="3184951"/>
            <a:ext cx="24673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latin typeface="Calibri"/>
                <a:ea typeface="Calibri"/>
                <a:cs typeface="Calibri"/>
              </a:rPr>
              <a:t> Detailed Research on (MAX30102, MPU6050, MAX4466)</a:t>
            </a:r>
            <a:endParaRPr lang="en-GB" dirty="0">
              <a:latin typeface="Calibri"/>
              <a:ea typeface="Calibri"/>
            </a:endParaRPr>
          </a:p>
          <a:p>
            <a:pPr algn="l"/>
            <a:endParaRPr lang="en-GB" dirty="0">
              <a:ea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7F9F62-A005-E1EB-C425-C4DAF2F60C6E}"/>
              </a:ext>
            </a:extLst>
          </p:cNvPr>
          <p:cNvSpPr txBox="1"/>
          <p:nvPr/>
        </p:nvSpPr>
        <p:spPr>
          <a:xfrm>
            <a:off x="2062830" y="4375625"/>
            <a:ext cx="28852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latin typeface="Calibri"/>
                <a:ea typeface="Calibri"/>
                <a:cs typeface="Arial"/>
              </a:rPr>
              <a:t>Faced real-world examples and learnt new concepts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9614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9" grpId="0" animBg="1"/>
      <p:bldP spid="20" grpId="0" animBg="1"/>
      <p:bldP spid="21" grpId="0" animBg="1"/>
      <p:bldP spid="22" grpId="0" animBg="1"/>
      <p:bldP spid="23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/>
            <a:r>
              <a:rPr lang="en-US" sz="5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 / Workflow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BCF87D9D-8645-007C-6F67-2E7C76AC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82748"/>
            <a:ext cx="7214616" cy="546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5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DED-760D-2C05-F17F-8347826C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668D-1241-F9D3-3AFA-FACF20FA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011" y="147212"/>
            <a:ext cx="10515600" cy="819241"/>
          </a:xfrm>
        </p:spPr>
        <p:txBody>
          <a:bodyPr/>
          <a:lstStyle/>
          <a:p>
            <a:r>
              <a:rPr lang="en-IN" sz="36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TECHNICAL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9CF5F-8557-2C3F-0119-3ECC0C6A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AEE550-D993-9994-29AE-F03B3107A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533" y="3106609"/>
            <a:ext cx="1136961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FD0B6-25CC-7D8F-0AB2-9739D0192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484" y="2477656"/>
            <a:ext cx="426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9DE2F6-7C34-2E72-9548-47429D28EC03}"/>
              </a:ext>
            </a:extLst>
          </p:cNvPr>
          <p:cNvSpPr/>
          <p:nvPr/>
        </p:nvSpPr>
        <p:spPr>
          <a:xfrm>
            <a:off x="1338513" y="1530662"/>
            <a:ext cx="2971294" cy="3609622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41816-0747-D147-66D3-C6A90B82733C}"/>
              </a:ext>
            </a:extLst>
          </p:cNvPr>
          <p:cNvSpPr txBox="1"/>
          <p:nvPr/>
        </p:nvSpPr>
        <p:spPr>
          <a:xfrm>
            <a:off x="1355957" y="1695507"/>
            <a:ext cx="2953850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Libraries used: </a:t>
            </a:r>
            <a:endParaRPr lang="en-US" dirty="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  <a:p>
            <a:pPr algn="ctr"/>
            <a:r>
              <a:rPr lang="en-US" sz="2000" b="1" dirty="0" err="1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Wire.h</a:t>
            </a: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, Adafruit_MPU6050.h </a:t>
            </a:r>
            <a:endParaRPr lang="en-US" dirty="0"/>
          </a:p>
          <a:p>
            <a:pPr algn="ctr"/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MAX30105.h heartrate/SpO2</a:t>
            </a:r>
            <a:endParaRPr lang="en-US" dirty="0"/>
          </a:p>
          <a:p>
            <a:pPr algn="ctr"/>
            <a:r>
              <a:rPr lang="en-US" sz="2000" b="1" dirty="0" err="1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Adafruit_Sensor.h</a:t>
            </a:r>
            <a:endParaRPr lang="en-US" sz="2000" b="1" dirty="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Calibri"/>
            </a:endParaRPr>
          </a:p>
          <a:p>
            <a:pPr algn="ctr"/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Python/Colab → analysis &amp; plotting</a:t>
            </a:r>
            <a:endParaRPr lang="en-US" dirty="0"/>
          </a:p>
          <a:p>
            <a:pPr algn="ctr"/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Tools used:</a:t>
            </a:r>
            <a:br>
              <a:rPr lang="en-US" sz="2000" b="1" dirty="0">
                <a:latin typeface="Arial"/>
                <a:ea typeface="Calibri"/>
                <a:cs typeface="Calibri"/>
              </a:rPr>
            </a:b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Calibri"/>
              </a:rPr>
              <a:t>Arduino IDE, Python, Matplotlib</a:t>
            </a:r>
            <a:endParaRPr lang="en-US" dirty="0"/>
          </a:p>
          <a:p>
            <a:pPr algn="ctr"/>
            <a:endParaRPr lang="en-GB" dirty="0">
              <a:ea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B240C7-6CA8-E30C-9820-3E3E75922EE2}"/>
              </a:ext>
            </a:extLst>
          </p:cNvPr>
          <p:cNvSpPr/>
          <p:nvPr/>
        </p:nvSpPr>
        <p:spPr>
          <a:xfrm>
            <a:off x="4616322" y="1530661"/>
            <a:ext cx="2971294" cy="3609622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Sensor Libraries (Arduino APIs)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Arial"/>
                <a:cs typeface="Arial"/>
              </a:rPr>
              <a:t>​</a:t>
            </a:r>
            <a:br>
              <a:rPr lang="en-US" sz="2400" b="1" dirty="0">
                <a:latin typeface="Calibri"/>
                <a:ea typeface="Arial"/>
                <a:cs typeface="Arial"/>
              </a:rPr>
            </a:b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Used built-in libraries like </a:t>
            </a:r>
            <a:r>
              <a:rPr lang="en-US" sz="2400" b="1" i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MAX30102 APIs</a:t>
            </a: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400" b="1" i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MPU6050 APIs</a:t>
            </a: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to read heart rate, motion, and snoring signals</a:t>
            </a:r>
            <a:endParaRPr lang="en-GB" sz="2400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09E1B4-CC36-4BE4-56E0-D36FF7BF7177}"/>
              </a:ext>
            </a:extLst>
          </p:cNvPr>
          <p:cNvSpPr/>
          <p:nvPr/>
        </p:nvSpPr>
        <p:spPr>
          <a:xfrm>
            <a:off x="7954606" y="1530660"/>
            <a:ext cx="2971294" cy="3609622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Data Processing APIs (Python Libraries)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Arial Nova"/>
                <a:ea typeface="Arial"/>
                <a:cs typeface="Arial"/>
              </a:rPr>
              <a:t>​</a:t>
            </a:r>
            <a:b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Arial Nova"/>
                <a:ea typeface="Arial"/>
                <a:cs typeface="Arial"/>
              </a:rPr>
            </a:b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Used simple APIs like </a:t>
            </a:r>
            <a:r>
              <a:rPr lang="en-US" sz="2400" b="1" i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NumPy</a:t>
            </a: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 and </a:t>
            </a:r>
            <a:r>
              <a:rPr lang="en-US" sz="2400" b="1" i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Matplotlib</a:t>
            </a:r>
            <a:r>
              <a:rPr lang="en-US" sz="2400" b="1" baseline="0" dirty="0">
                <a:solidFill>
                  <a:schemeClr val="accent1">
                    <a:lumMod val="49000"/>
                  </a:schemeClr>
                </a:solidFill>
                <a:latin typeface="Arial Nova"/>
              </a:rPr>
              <a:t> for filtering and visualizing sleep data.</a:t>
            </a:r>
            <a:endParaRPr lang="en-US" sz="2400" b="1" dirty="0">
              <a:solidFill>
                <a:schemeClr val="accent1">
                  <a:lumMod val="49000"/>
                </a:schemeClr>
              </a:solidFill>
              <a:latin typeface="Arial Nov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768401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890" y="235729"/>
            <a:ext cx="10515600" cy="627652"/>
          </a:xfrm>
        </p:spPr>
        <p:txBody>
          <a:bodyPr/>
          <a:lstStyle/>
          <a:p>
            <a:r>
              <a:rPr lang="en-IN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/ WORKING MODEL DEMONSTRATION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5001A-EDA1-CF15-5351-28131DE197F8}"/>
              </a:ext>
            </a:extLst>
          </p:cNvPr>
          <p:cNvSpPr txBox="1"/>
          <p:nvPr/>
        </p:nvSpPr>
        <p:spPr>
          <a:xfrm>
            <a:off x="4986929" y="388129"/>
            <a:ext cx="9478993" cy="24929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ea typeface="Calibri"/>
            </a:endParaRPr>
          </a:p>
          <a:p>
            <a:endParaRPr lang="en-US" sz="2000" dirty="0">
              <a:ea typeface="Calibri"/>
            </a:endParaRPr>
          </a:p>
          <a:p>
            <a:endParaRPr lang="en-US" sz="2000" dirty="0">
              <a:ea typeface="Calibri"/>
            </a:endParaRPr>
          </a:p>
          <a:p>
            <a:endParaRPr lang="en-US" sz="2000" dirty="0">
              <a:ea typeface="Calibri"/>
            </a:endParaRPr>
          </a:p>
          <a:p>
            <a:endParaRPr lang="en-US" sz="2000" dirty="0">
              <a:ea typeface="Calibri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89C3620-7043-50E6-8EA8-EC752A62F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929" y="26949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D1AB985-36CF-8E3F-E12F-B3AC8B00F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485051"/>
              </p:ext>
            </p:extLst>
          </p:nvPr>
        </p:nvGraphicFramePr>
        <p:xfrm>
          <a:off x="5077263" y="867639"/>
          <a:ext cx="7059281" cy="5411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44" name="Picture 443" descr="A close-up of a blue circuit board&#10;&#10;AI-generated content may be incorrect.">
            <a:extLst>
              <a:ext uri="{FF2B5EF4-FFF2-40B4-BE49-F238E27FC236}">
                <a16:creationId xmlns:a16="http://schemas.microsoft.com/office/drawing/2014/main" id="{A49DB8AC-C5F8-D9EB-EF02-342E3029DE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097" r="148" b="602"/>
          <a:stretch>
            <a:fillRect/>
          </a:stretch>
        </p:blipFill>
        <p:spPr>
          <a:xfrm>
            <a:off x="473747" y="870460"/>
            <a:ext cx="5633181" cy="47432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91404F-9949-AC89-463B-8E99A4CA4732}"/>
              </a:ext>
            </a:extLst>
          </p:cNvPr>
          <p:cNvSpPr/>
          <p:nvPr/>
        </p:nvSpPr>
        <p:spPr>
          <a:xfrm>
            <a:off x="3261360" y="3667760"/>
            <a:ext cx="619760" cy="3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76C3D-0489-D16D-86CC-F5795571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3" name="TextBox 4">
            <a:extLst>
              <a:ext uri="{FF2B5EF4-FFF2-40B4-BE49-F238E27FC236}">
                <a16:creationId xmlns:a16="http://schemas.microsoft.com/office/drawing/2014/main" id="{D70EB966-3C8E-6D7E-25FE-9E9D18C04FB3}"/>
              </a:ext>
            </a:extLst>
          </p:cNvPr>
          <p:cNvGraphicFramePr/>
          <p:nvPr/>
        </p:nvGraphicFramePr>
        <p:xfrm>
          <a:off x="4455256" y="-257871"/>
          <a:ext cx="7571921" cy="6448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C5B4852-2106-631D-E3C5-8477CFE46762}"/>
              </a:ext>
            </a:extLst>
          </p:cNvPr>
          <p:cNvSpPr txBox="1"/>
          <p:nvPr/>
        </p:nvSpPr>
        <p:spPr>
          <a:xfrm>
            <a:off x="525451" y="1768555"/>
            <a:ext cx="329655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RESULT AND IMPACTS</a:t>
            </a:r>
            <a:endParaRPr lang="en-GB" sz="3600" b="1" dirty="0">
              <a:solidFill>
                <a:schemeClr val="accent1">
                  <a:lumMod val="49000"/>
                </a:schemeClr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320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410" y="370443"/>
            <a:ext cx="5530765" cy="1874037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CHALLENGES FACED</a:t>
            </a:r>
            <a:br>
              <a:rPr lang="en-IN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cs typeface="Arial"/>
              </a:rPr>
              <a:t>I2C sensor not detected(initial wiring issues)</a:t>
            </a:r>
            <a:b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cs typeface="Arial"/>
              </a:rPr>
            </a:b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Arial"/>
                <a:cs typeface="Arial"/>
              </a:rPr>
              <a:t>Sensors also deducting environmental noise including the sleep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32" y="2970610"/>
            <a:ext cx="6590582" cy="2131628"/>
          </a:xfrm>
        </p:spPr>
        <p:txBody>
          <a:bodyPr/>
          <a:lstStyle/>
          <a:p>
            <a:pPr marL="0" indent="0">
              <a:buNone/>
            </a:pPr>
            <a:endParaRPr lang="en-US" sz="3200" b="1" dirty="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66819D1-F6C3-4DFC-959B-0416DDE00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42517" y="734055"/>
            <a:ext cx="274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buFontTx/>
              <a:buChar char="•"/>
            </a:pP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10AC5A-124A-FC6A-7E8F-598EED49B922}"/>
              </a:ext>
            </a:extLst>
          </p:cNvPr>
          <p:cNvSpPr/>
          <p:nvPr/>
        </p:nvSpPr>
        <p:spPr>
          <a:xfrm>
            <a:off x="68537" y="91382"/>
            <a:ext cx="6145496" cy="2398799"/>
          </a:xfrm>
          <a:prstGeom prst="roundRect">
            <a:avLst/>
          </a:prstGeom>
          <a:noFill/>
          <a:ln w="57150">
            <a:solidFill>
              <a:srgbClr val="4F79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B082E9-FFD4-776A-7A99-949B8525FDFA}"/>
              </a:ext>
            </a:extLst>
          </p:cNvPr>
          <p:cNvSpPr/>
          <p:nvPr/>
        </p:nvSpPr>
        <p:spPr>
          <a:xfrm>
            <a:off x="5905744" y="1299080"/>
            <a:ext cx="6145496" cy="2398799"/>
          </a:xfrm>
          <a:prstGeom prst="roundRect">
            <a:avLst/>
          </a:prstGeom>
          <a:noFill/>
          <a:ln w="57150">
            <a:solidFill>
              <a:srgbClr val="4F79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dirty="0">
              <a:solidFill>
                <a:schemeClr val="accent1">
                  <a:lumMod val="49000"/>
                </a:schemeClr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 sz="2000" b="1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BBD5732-72A6-1A72-81B6-D465965F80A0}"/>
              </a:ext>
            </a:extLst>
          </p:cNvPr>
          <p:cNvSpPr/>
          <p:nvPr/>
        </p:nvSpPr>
        <p:spPr>
          <a:xfrm>
            <a:off x="68537" y="2837457"/>
            <a:ext cx="6145496" cy="2398799"/>
          </a:xfrm>
          <a:prstGeom prst="roundRect">
            <a:avLst/>
          </a:prstGeom>
          <a:noFill/>
          <a:ln w="57150">
            <a:solidFill>
              <a:srgbClr val="4F79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 dirty="0">
              <a:solidFill>
                <a:schemeClr val="accent1">
                  <a:lumMod val="49000"/>
                </a:schemeClr>
              </a:solidFill>
              <a:latin typeface="Calibri"/>
              <a:ea typeface="Arial"/>
              <a:cs typeface="Arial"/>
            </a:endParaRPr>
          </a:p>
          <a:p>
            <a:endParaRPr lang="en-US" sz="2000" dirty="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28A26-FBF8-3268-B7B5-6FD6072B4C9E}"/>
              </a:ext>
            </a:extLst>
          </p:cNvPr>
          <p:cNvSpPr txBox="1">
            <a:spLocks/>
          </p:cNvSpPr>
          <p:nvPr/>
        </p:nvSpPr>
        <p:spPr bwMode="auto">
          <a:xfrm>
            <a:off x="6099849" y="1558011"/>
            <a:ext cx="5933331" cy="185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lnSpc>
                <a:spcPct val="100000"/>
              </a:lnSpc>
            </a:pPr>
            <a:r>
              <a:rPr lang="en-US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     PLAN TO OVERCOME</a:t>
            </a:r>
            <a:endParaRPr lang="en-IN" sz="3200" b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defTabSz="914400">
              <a:lnSpc>
                <a:spcPct val="100000"/>
              </a:lnSpc>
            </a:pPr>
            <a:endParaRPr lang="en-US" sz="3200" b="1" dirty="0">
              <a:solidFill>
                <a:schemeClr val="accent1">
                  <a:lumMod val="49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Verified correct microphone type (analog MAX4466) 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Switched to an analog mic, which is Uno-compatible 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Changed the microcontroller from ESP32 </a:t>
            </a:r>
            <a:r>
              <a:rPr lang="en-US" sz="2000" b="1" dirty="0" err="1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toARDUINO</a:t>
            </a: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UNO</a:t>
            </a:r>
            <a:endParaRPr lang="en-US" dirty="0">
              <a:solidFill>
                <a:schemeClr val="accent1">
                  <a:lumMod val="49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E51BC43-4ADA-85B4-4FBF-0A959BA84FCD}"/>
              </a:ext>
            </a:extLst>
          </p:cNvPr>
          <p:cNvSpPr txBox="1">
            <a:spLocks/>
          </p:cNvSpPr>
          <p:nvPr/>
        </p:nvSpPr>
        <p:spPr bwMode="auto">
          <a:xfrm>
            <a:off x="277017" y="3096390"/>
            <a:ext cx="5530765" cy="187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>
              <a:lnSpc>
                <a:spcPct val="100000"/>
              </a:lnSpc>
            </a:pPr>
            <a:r>
              <a:rPr lang="en-US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KEY LEARNINGS &amp;IMPROVEMENTS</a:t>
            </a:r>
            <a:br>
              <a:rPr lang="en-IN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Better Understanding of Hardware Integration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defTabSz="914400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Improved Debugging and Problem-Solving Skills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defTabSz="914400">
              <a:lnSpc>
                <a:spcPct val="100000"/>
              </a:lnSpc>
            </a:pPr>
            <a:r>
              <a:rPr lang="en-US" sz="20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Clearer Vision for Next Phase (ML + App)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22" grpId="0" animBg="1"/>
      <p:bldP spid="24" grpId="0" animBg="1"/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1A4CD-9D0F-C320-C907-D174C384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3" name="Picture 2" descr="A circuit board with wires&#10;&#10;AI-generated content may be incorrect.">
            <a:extLst>
              <a:ext uri="{FF2B5EF4-FFF2-40B4-BE49-F238E27FC236}">
                <a16:creationId xmlns:a16="http://schemas.microsoft.com/office/drawing/2014/main" id="{D2BE0FFD-B6E7-04BD-2135-C0574F60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29" t="13958" r="918" b="7013"/>
          <a:stretch>
            <a:fillRect/>
          </a:stretch>
        </p:blipFill>
        <p:spPr>
          <a:xfrm>
            <a:off x="1788342" y="124339"/>
            <a:ext cx="4503249" cy="5419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F2D35-A0FE-3DBD-15A2-B6282732519E}"/>
              </a:ext>
            </a:extLst>
          </p:cNvPr>
          <p:cNvSpPr txBox="1"/>
          <p:nvPr/>
        </p:nvSpPr>
        <p:spPr>
          <a:xfrm>
            <a:off x="7457440" y="2174240"/>
            <a:ext cx="439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RESULT:ACCURACY=60-65%</a:t>
            </a:r>
          </a:p>
        </p:txBody>
      </p:sp>
    </p:spTree>
    <p:extLst>
      <p:ext uri="{BB962C8B-B14F-4D97-AF65-F5344CB8AC3E}">
        <p14:creationId xmlns:p14="http://schemas.microsoft.com/office/powerpoint/2010/main" val="945073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0154" y="5691"/>
            <a:ext cx="10515600" cy="627652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CONCLUSION</a:t>
            </a:r>
            <a:endParaRPr lang="en-US" sz="3200" b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4949FE-325E-AFA2-D7D9-98562FEDC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92" y="957192"/>
            <a:ext cx="11865633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Key Outcomes &amp; Learnings</a:t>
            </a:r>
            <a:endParaRPr lang="en-US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Arial"/>
            </a:endParaRP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Built a working multi-sensor sleep tracker.</a:t>
            </a:r>
            <a:endParaRPr lang="en-US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Arial"/>
            </a:endParaRP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Learned hardware integration, debugging, and basic signal processing.</a:t>
            </a:r>
            <a:endParaRPr lang="en-US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Arial"/>
            </a:endParaRPr>
          </a:p>
          <a:p>
            <a:endParaRPr lang="en-US" sz="2400" dirty="0">
              <a:solidFill>
                <a:schemeClr val="accent1">
                  <a:lumMod val="49000"/>
                </a:schemeClr>
              </a:solidFill>
              <a:ea typeface="Calibri"/>
            </a:endParaRPr>
          </a:p>
          <a:p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Usefulness / Impact</a:t>
            </a:r>
            <a:endParaRPr lang="en-US">
              <a:solidFill>
                <a:schemeClr val="accent1">
                  <a:lumMod val="49000"/>
                </a:schemeClr>
              </a:solidFill>
              <a:ea typeface="Calibri"/>
            </a:endParaRP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Helps users understand sleep quality, detect restlessness, and monitor health.</a:t>
            </a:r>
            <a:endParaRPr lang="en-US">
              <a:solidFill>
                <a:schemeClr val="accent1">
                  <a:lumMod val="49000"/>
                </a:schemeClr>
              </a:solidFill>
              <a:ea typeface="Calibri"/>
            </a:endParaRP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Low-cost solution for early sleep issue detection.</a:t>
            </a:r>
            <a:endParaRPr lang="en-US">
              <a:solidFill>
                <a:schemeClr val="accent1">
                  <a:lumMod val="49000"/>
                </a:schemeClr>
              </a:solidFill>
              <a:ea typeface="Calibri"/>
            </a:endParaRPr>
          </a:p>
          <a:p>
            <a:endParaRPr lang="en-US" sz="2400" dirty="0">
              <a:solidFill>
                <a:schemeClr val="accent1">
                  <a:lumMod val="49000"/>
                </a:schemeClr>
              </a:solidFill>
              <a:latin typeface="Calibri"/>
              <a:ea typeface="Calibri"/>
              <a:cs typeface="Arial"/>
            </a:endParaRPr>
          </a:p>
          <a:p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Future Enhancements</a:t>
            </a: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Add ML for sleep stage detection.</a:t>
            </a: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Build a mobile app and wearable version.</a:t>
            </a:r>
          </a:p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Calibri"/>
                <a:ea typeface="Calibri"/>
                <a:cs typeface="Arial"/>
              </a:rPr>
              <a:t>Support cloud-based long-term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49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12DE6-C7FA-9A25-511B-940C93A5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25C3A7-18EE-C1FB-1451-D048D8E48C0F}"/>
              </a:ext>
            </a:extLst>
          </p:cNvPr>
          <p:cNvSpPr txBox="1"/>
          <p:nvPr/>
        </p:nvSpPr>
        <p:spPr>
          <a:xfrm>
            <a:off x="5090160" y="234696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833540538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235BC-8DCE-BD50-48DA-AA0EF56CE0BA}"/>
              </a:ext>
            </a:extLst>
          </p:cNvPr>
          <p:cNvSpPr txBox="1"/>
          <p:nvPr/>
        </p:nvSpPr>
        <p:spPr>
          <a:xfrm>
            <a:off x="3482196" y="2321004"/>
            <a:ext cx="52276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 ?</a:t>
            </a:r>
          </a:p>
        </p:txBody>
      </p:sp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8641</TotalTime>
  <Words>538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Nova</vt:lpstr>
      <vt:lpstr>Calibri</vt:lpstr>
      <vt:lpstr>Calibri Light</vt:lpstr>
      <vt:lpstr>Garamond</vt:lpstr>
      <vt:lpstr>Times New Roman</vt:lpstr>
      <vt:lpstr>Office Theme</vt:lpstr>
      <vt:lpstr>PROJECT X – 1.0  Phase –II Review Presentation (20th Nov 2025)  SLEEP PATTERN TRACKER </vt:lpstr>
      <vt:lpstr>PROJECT BRIEF SUMMARY</vt:lpstr>
      <vt:lpstr>PowerPoint Presentation</vt:lpstr>
      <vt:lpstr>System Architecture / Workflow</vt:lpstr>
      <vt:lpstr>TECHNICAL IMPLEMENTATION</vt:lpstr>
      <vt:lpstr>PROTOTYPE / WORKING MODEL DEMONSTRATION</vt:lpstr>
      <vt:lpstr>PowerPoint Presentation</vt:lpstr>
      <vt:lpstr>CHALLENGES FACED  I2C sensor not detected(initial wiring issues) Sensors also deducting environmental noise including the sleep data</vt:lpstr>
      <vt:lpstr>PowerPoint Presentation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Kalpana Pradeep</cp:lastModifiedBy>
  <cp:revision>1619</cp:revision>
  <cp:lastPrinted>2018-07-24T06:37:20Z</cp:lastPrinted>
  <dcterms:created xsi:type="dcterms:W3CDTF">2018-06-07T04:06:17Z</dcterms:created>
  <dcterms:modified xsi:type="dcterms:W3CDTF">2025-11-21T08:26:34Z</dcterms:modified>
</cp:coreProperties>
</file>